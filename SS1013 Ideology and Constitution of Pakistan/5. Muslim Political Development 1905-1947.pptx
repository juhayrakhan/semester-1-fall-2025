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68" r:id="rId2"/>
    <p:sldId id="269" r:id="rId3"/>
    <p:sldId id="270" r:id="rId4"/>
    <p:sldId id="259" r:id="rId5"/>
    <p:sldId id="260" r:id="rId6"/>
    <p:sldId id="256" r:id="rId7"/>
    <p:sldId id="257" r:id="rId8"/>
    <p:sldId id="258" r:id="rId9"/>
    <p:sldId id="261" r:id="rId10"/>
    <p:sldId id="262" r:id="rId11"/>
    <p:sldId id="263" r:id="rId12"/>
    <p:sldId id="264" r:id="rId13"/>
    <p:sldId id="26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6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0E4FF87E-1630-4DE4-AB36-47FA31BE8FC4}" type="datetimeFigureOut">
              <a:rPr lang="en-US" smtClean="0"/>
              <a:t>9/13/2022</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68B22F64-B505-4964-9842-379D8EDC6B08}"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43342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4FF87E-1630-4DE4-AB36-47FA31BE8FC4}" type="datetimeFigureOut">
              <a:rPr lang="en-US" smtClean="0"/>
              <a:t>9/13/2022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B22F64-B505-4964-9842-379D8EDC6B08}" type="slidenum">
              <a:rPr lang="en-US" smtClean="0"/>
              <a:t>‹#›</a:t>
            </a:fld>
            <a:endParaRPr lang="en-US"/>
          </a:p>
        </p:txBody>
      </p:sp>
    </p:spTree>
    <p:extLst>
      <p:ext uri="{BB962C8B-B14F-4D97-AF65-F5344CB8AC3E}">
        <p14:creationId xmlns:p14="http://schemas.microsoft.com/office/powerpoint/2010/main" val="3007227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4FF87E-1630-4DE4-AB36-47FA31BE8FC4}" type="datetimeFigureOut">
              <a:rPr lang="en-US" smtClean="0"/>
              <a:t>9/13/2022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B22F64-B505-4964-9842-379D8EDC6B08}"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5457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4FF87E-1630-4DE4-AB36-47FA31BE8FC4}" type="datetimeFigureOut">
              <a:rPr lang="en-US" smtClean="0"/>
              <a:t>9/13/2022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B22F64-B505-4964-9842-379D8EDC6B08}" type="slidenum">
              <a:rPr lang="en-US" smtClean="0"/>
              <a:t>‹#›</a:t>
            </a:fld>
            <a:endParaRPr lang="en-US"/>
          </a:p>
        </p:txBody>
      </p:sp>
    </p:spTree>
    <p:extLst>
      <p:ext uri="{BB962C8B-B14F-4D97-AF65-F5344CB8AC3E}">
        <p14:creationId xmlns:p14="http://schemas.microsoft.com/office/powerpoint/2010/main" val="3747189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E4FF87E-1630-4DE4-AB36-47FA31BE8FC4}" type="datetimeFigureOut">
              <a:rPr lang="en-US" smtClean="0"/>
              <a:t>9/13/2022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8B22F64-B505-4964-9842-379D8EDC6B08}"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0480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E4FF87E-1630-4DE4-AB36-47FA31BE8FC4}" type="datetimeFigureOut">
              <a:rPr lang="en-US" smtClean="0"/>
              <a:t>9/13/2022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8B22F64-B505-4964-9842-379D8EDC6B08}"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29170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4FF87E-1630-4DE4-AB36-47FA31BE8FC4}" type="datetimeFigureOut">
              <a:rPr lang="en-US" smtClean="0"/>
              <a:t>9/13/2022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8B22F64-B505-4964-9842-379D8EDC6B08}" type="slidenum">
              <a:rPr lang="en-US" smtClean="0"/>
              <a:t>‹#›</a:t>
            </a:fld>
            <a:endParaRPr lang="en-US"/>
          </a:p>
        </p:txBody>
      </p:sp>
    </p:spTree>
    <p:extLst>
      <p:ext uri="{BB962C8B-B14F-4D97-AF65-F5344CB8AC3E}">
        <p14:creationId xmlns:p14="http://schemas.microsoft.com/office/powerpoint/2010/main" val="933105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4FF87E-1630-4DE4-AB36-47FA31BE8FC4}" type="datetimeFigureOut">
              <a:rPr lang="en-US" smtClean="0"/>
              <a:t>9/13/2022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B22F64-B505-4964-9842-379D8EDC6B08}"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03778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4FF87E-1630-4DE4-AB36-47FA31BE8FC4}" type="datetimeFigureOut">
              <a:rPr lang="en-US" smtClean="0"/>
              <a:t>9/13/2022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B22F64-B505-4964-9842-379D8EDC6B08}" type="slidenum">
              <a:rPr lang="en-US" smtClean="0"/>
              <a:t>‹#›</a:t>
            </a:fld>
            <a:endParaRPr lang="en-US"/>
          </a:p>
        </p:txBody>
      </p:sp>
    </p:spTree>
    <p:extLst>
      <p:ext uri="{BB962C8B-B14F-4D97-AF65-F5344CB8AC3E}">
        <p14:creationId xmlns:p14="http://schemas.microsoft.com/office/powerpoint/2010/main" val="6871465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4FF87E-1630-4DE4-AB36-47FA31BE8FC4}" type="datetimeFigureOut">
              <a:rPr lang="en-US" smtClean="0"/>
              <a:t>9/13/2022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B22F64-B505-4964-9842-379D8EDC6B08}" type="slidenum">
              <a:rPr lang="en-US" smtClean="0"/>
              <a:t>‹#›</a:t>
            </a:fld>
            <a:endParaRPr lang="en-US"/>
          </a:p>
        </p:txBody>
      </p:sp>
    </p:spTree>
    <p:extLst>
      <p:ext uri="{BB962C8B-B14F-4D97-AF65-F5344CB8AC3E}">
        <p14:creationId xmlns:p14="http://schemas.microsoft.com/office/powerpoint/2010/main" val="3837822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4FF87E-1630-4DE4-AB36-47FA31BE8FC4}" type="datetimeFigureOut">
              <a:rPr lang="en-US" smtClean="0"/>
              <a:t>9/13/2022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B22F64-B505-4964-9842-379D8EDC6B08}"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837306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4FF87E-1630-4DE4-AB36-47FA31BE8FC4}" type="datetimeFigureOut">
              <a:rPr lang="en-US" smtClean="0"/>
              <a:t>9/13/2022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B22F64-B505-4964-9842-379D8EDC6B08}"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25178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4FF87E-1630-4DE4-AB36-47FA31BE8FC4}" type="datetimeFigureOut">
              <a:rPr lang="en-US" smtClean="0"/>
              <a:t>9/13/2022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B22F64-B505-4964-9842-379D8EDC6B08}" type="slidenum">
              <a:rPr lang="en-US" smtClean="0"/>
              <a:t>‹#›</a:t>
            </a:fld>
            <a:endParaRPr lang="en-US"/>
          </a:p>
        </p:txBody>
      </p:sp>
    </p:spTree>
    <p:extLst>
      <p:ext uri="{BB962C8B-B14F-4D97-AF65-F5344CB8AC3E}">
        <p14:creationId xmlns:p14="http://schemas.microsoft.com/office/powerpoint/2010/main" val="28615943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4FF87E-1630-4DE4-AB36-47FA31BE8FC4}" type="datetimeFigureOut">
              <a:rPr lang="en-US" smtClean="0"/>
              <a:t>9/13/2022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B22F64-B505-4964-9842-379D8EDC6B08}"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981858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4FF87E-1630-4DE4-AB36-47FA31BE8FC4}" type="datetimeFigureOut">
              <a:rPr lang="en-US" smtClean="0"/>
              <a:t>9/13/2022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B22F64-B505-4964-9842-379D8EDC6B08}"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591824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4FF87E-1630-4DE4-AB36-47FA31BE8FC4}" type="datetimeFigureOut">
              <a:rPr lang="en-US" smtClean="0"/>
              <a:t>9/13/2022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B22F64-B505-4964-9842-379D8EDC6B08}"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06857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4FF87E-1630-4DE4-AB36-47FA31BE8FC4}" type="datetimeFigureOut">
              <a:rPr lang="en-US" smtClean="0"/>
              <a:t>9/13/2022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B22F64-B505-4964-9842-379D8EDC6B08}"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4544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E4FF87E-1630-4DE4-AB36-47FA31BE8FC4}" type="datetimeFigureOut">
              <a:rPr lang="en-US" smtClean="0"/>
              <a:t>9/13/2022</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8B22F64-B505-4964-9842-379D8EDC6B08}" type="slidenum">
              <a:rPr lang="en-US" smtClean="0"/>
              <a:t>‹#›</a:t>
            </a:fld>
            <a:endParaRPr lang="en-US"/>
          </a:p>
        </p:txBody>
      </p:sp>
    </p:spTree>
    <p:extLst>
      <p:ext uri="{BB962C8B-B14F-4D97-AF65-F5344CB8AC3E}">
        <p14:creationId xmlns:p14="http://schemas.microsoft.com/office/powerpoint/2010/main" val="633039277"/>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4E55-4BF4-4C06-ACF9-7F4B3D26843B}"/>
              </a:ext>
            </a:extLst>
          </p:cNvPr>
          <p:cNvSpPr>
            <a:spLocks noGrp="1"/>
          </p:cNvSpPr>
          <p:nvPr>
            <p:ph type="ctrTitle"/>
          </p:nvPr>
        </p:nvSpPr>
        <p:spPr/>
        <p:txBody>
          <a:bodyPr>
            <a:normAutofit/>
          </a:bodyPr>
          <a:lstStyle/>
          <a:p>
            <a:r>
              <a:rPr lang="en-US" sz="3600" b="1" dirty="0"/>
              <a:t>Muslim Political Consciousness </a:t>
            </a:r>
          </a:p>
        </p:txBody>
      </p:sp>
      <p:sp>
        <p:nvSpPr>
          <p:cNvPr id="3" name="TextBox 2">
            <a:extLst>
              <a:ext uri="{FF2B5EF4-FFF2-40B4-BE49-F238E27FC236}">
                <a16:creationId xmlns:a16="http://schemas.microsoft.com/office/drawing/2014/main" id="{4A7F2EEA-9986-BA58-B152-CBADAF51FAE4}"/>
              </a:ext>
            </a:extLst>
          </p:cNvPr>
          <p:cNvSpPr txBox="1"/>
          <p:nvPr/>
        </p:nvSpPr>
        <p:spPr>
          <a:xfrm>
            <a:off x="6774873" y="4918363"/>
            <a:ext cx="2964872" cy="369332"/>
          </a:xfrm>
          <a:prstGeom prst="rect">
            <a:avLst/>
          </a:prstGeom>
          <a:noFill/>
        </p:spPr>
        <p:txBody>
          <a:bodyPr wrap="square" rtlCol="0">
            <a:spAutoFit/>
          </a:bodyPr>
          <a:lstStyle/>
          <a:p>
            <a:r>
              <a:rPr lang="en-US" b="1" dirty="0"/>
              <a:t>By Muhammad Ajmal Khan</a:t>
            </a:r>
          </a:p>
        </p:txBody>
      </p:sp>
    </p:spTree>
    <p:extLst>
      <p:ext uri="{BB962C8B-B14F-4D97-AF65-F5344CB8AC3E}">
        <p14:creationId xmlns:p14="http://schemas.microsoft.com/office/powerpoint/2010/main" val="222133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A9370-6569-4168-A4AE-DD6C68A6FF3E}"/>
              </a:ext>
            </a:extLst>
          </p:cNvPr>
          <p:cNvSpPr>
            <a:spLocks noGrp="1"/>
          </p:cNvSpPr>
          <p:nvPr>
            <p:ph type="title"/>
          </p:nvPr>
        </p:nvSpPr>
        <p:spPr>
          <a:xfrm>
            <a:off x="2852762" y="1802669"/>
            <a:ext cx="6486473" cy="587136"/>
          </a:xfrm>
        </p:spPr>
        <p:txBody>
          <a:bodyPr>
            <a:normAutofit/>
          </a:bodyPr>
          <a:lstStyle/>
          <a:p>
            <a:r>
              <a:rPr lang="en-US" sz="2800" b="1" dirty="0">
                <a:effectLst/>
                <a:latin typeface="Calibri" panose="020F0502020204030204" pitchFamily="34" charset="0"/>
                <a:ea typeface="Calibri" panose="020F0502020204030204" pitchFamily="34" charset="0"/>
                <a:cs typeface="Times New Roman" panose="02020603050405020304" pitchFamily="18" charset="0"/>
              </a:rPr>
              <a:t>Impacts of the war of Independence </a:t>
            </a:r>
            <a:endParaRPr lang="en-US" sz="2800" b="1" dirty="0"/>
          </a:p>
        </p:txBody>
      </p:sp>
      <p:sp>
        <p:nvSpPr>
          <p:cNvPr id="3" name="Content Placeholder 2">
            <a:extLst>
              <a:ext uri="{FF2B5EF4-FFF2-40B4-BE49-F238E27FC236}">
                <a16:creationId xmlns:a16="http://schemas.microsoft.com/office/drawing/2014/main" id="{283C84E9-BA6A-4516-A371-4EAC0D0A8FAE}"/>
              </a:ext>
            </a:extLst>
          </p:cNvPr>
          <p:cNvSpPr>
            <a:spLocks noGrp="1"/>
          </p:cNvSpPr>
          <p:nvPr>
            <p:ph idx="1"/>
          </p:nvPr>
        </p:nvSpPr>
        <p:spPr>
          <a:xfrm>
            <a:off x="1295400" y="2389805"/>
            <a:ext cx="9601196" cy="3318936"/>
          </a:xfrm>
        </p:spPr>
        <p:txBody>
          <a:bodyPr>
            <a:noAutofit/>
          </a:bodyPr>
          <a:lstStyle/>
          <a:p>
            <a:pPr marL="0" marR="0" algn="just">
              <a:lnSpc>
                <a:spcPct val="107000"/>
              </a:lnSpc>
              <a:spcBef>
                <a:spcPts val="0"/>
              </a:spcBef>
              <a:spcAft>
                <a:spcPts val="800"/>
              </a:spcAft>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As it is observed from history that the </a:t>
            </a: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war of independence failed </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abruptly and those who participated in the war faced harsh consequences, particularly the Muslims. Because Muslims were the active participants in the war of independence in 1857.</a:t>
            </a:r>
          </a:p>
          <a:p>
            <a:pPr marL="0" marR="0" algn="just">
              <a:lnSpc>
                <a:spcPct val="107000"/>
              </a:lnSpc>
              <a:spcBef>
                <a:spcPts val="0"/>
              </a:spcBef>
              <a:spcAft>
                <a:spcPts val="800"/>
              </a:spcAft>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colonial rulers considered </a:t>
            </a: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Muslims as the sole ones responsible</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for the episode of 1857 because they thought that the Muslim rule came to an end due to which they started revolting against the company’s Raj.</a:t>
            </a:r>
          </a:p>
          <a:p>
            <a:pPr marL="0" marR="0" algn="just">
              <a:lnSpc>
                <a:spcPct val="107000"/>
              </a:lnSpc>
              <a:spcBef>
                <a:spcPts val="0"/>
              </a:spcBef>
              <a:spcAft>
                <a:spcPts val="800"/>
              </a:spcAft>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British rulers started preferring Hindus in every field of life and excluded the Muslims from all key positions in their administration.</a:t>
            </a:r>
          </a:p>
          <a:p>
            <a:pPr marL="0" marR="0" algn="just">
              <a:lnSpc>
                <a:spcPct val="107000"/>
              </a:lnSpc>
              <a:spcBef>
                <a:spcPts val="0"/>
              </a:spcBef>
              <a:spcAft>
                <a:spcPts val="800"/>
              </a:spcAft>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 short, the episode of 1857 created a </a:t>
            </a: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huge bridge between British rulers and Muslims</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In such a scenario, it was </a:t>
            </a: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Sir Syed Ahmad Khan</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who came to the forefront and started reconciling the British and Muslims.  </a:t>
            </a:r>
          </a:p>
          <a:p>
            <a:pPr algn="just"/>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950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01DF5-92BA-4EA9-B912-D76F861AB20D}"/>
              </a:ext>
            </a:extLst>
          </p:cNvPr>
          <p:cNvSpPr>
            <a:spLocks noGrp="1"/>
          </p:cNvSpPr>
          <p:nvPr>
            <p:ph type="title"/>
          </p:nvPr>
        </p:nvSpPr>
        <p:spPr>
          <a:xfrm>
            <a:off x="1872101" y="1821146"/>
            <a:ext cx="8447795" cy="587136"/>
          </a:xfrm>
        </p:spPr>
        <p:txBody>
          <a:bodyPr>
            <a:normAutofit/>
          </a:bodyPr>
          <a:lstStyle/>
          <a:p>
            <a:r>
              <a:rPr lang="en-US" sz="2800" b="1" dirty="0">
                <a:effectLst/>
                <a:latin typeface="Calibri" panose="020F0502020204030204" pitchFamily="34" charset="0"/>
                <a:ea typeface="Calibri" panose="020F0502020204030204" pitchFamily="34" charset="0"/>
                <a:cs typeface="Times New Roman" panose="02020603050405020304" pitchFamily="18" charset="0"/>
              </a:rPr>
              <a:t>Sir Syed Ahmad Khan and the Aligarh Movement</a:t>
            </a:r>
            <a:endParaRPr lang="en-US" sz="2800" b="1" dirty="0"/>
          </a:p>
        </p:txBody>
      </p:sp>
      <p:sp>
        <p:nvSpPr>
          <p:cNvPr id="3" name="Content Placeholder 2">
            <a:extLst>
              <a:ext uri="{FF2B5EF4-FFF2-40B4-BE49-F238E27FC236}">
                <a16:creationId xmlns:a16="http://schemas.microsoft.com/office/drawing/2014/main" id="{0D90F59C-6FA9-4862-8F3A-91363EE9A806}"/>
              </a:ext>
            </a:extLst>
          </p:cNvPr>
          <p:cNvSpPr>
            <a:spLocks noGrp="1"/>
          </p:cNvSpPr>
          <p:nvPr>
            <p:ph idx="1"/>
          </p:nvPr>
        </p:nvSpPr>
        <p:spPr/>
        <p:txBody>
          <a:bodyPr>
            <a:noAutofit/>
          </a:bodyPr>
          <a:lstStyle/>
          <a:p>
            <a:pPr marL="0" marR="0" algn="just">
              <a:lnSpc>
                <a:spcPct val="107000"/>
              </a:lnSpc>
              <a:spcBef>
                <a:spcPts val="0"/>
              </a:spcBef>
              <a:spcAft>
                <a:spcPts val="800"/>
              </a:spcAft>
            </a:pP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Introduction:</a:t>
            </a:r>
            <a:r>
              <a:rPr lang="en-US" sz="2000" b="0" i="0" dirty="0">
                <a:solidFill>
                  <a:schemeClr val="tx1"/>
                </a:solidFill>
                <a:effectLst/>
                <a:latin typeface="Times New Roman" panose="02020603050405020304" pitchFamily="18" charset="0"/>
                <a:cs typeface="Times New Roman" panose="02020603050405020304" pitchFamily="18" charset="0"/>
              </a:rPr>
              <a:t> Sir Syed Ahmad Khan, was an Islamic pragmatist, Islamic reformer, philosopher, and educationist in nineteenth-century British India.</a:t>
            </a:r>
          </a:p>
          <a:p>
            <a:pPr marL="0" marR="0" algn="just">
              <a:lnSpc>
                <a:spcPct val="107000"/>
              </a:lnSpc>
              <a:spcBef>
                <a:spcPts val="0"/>
              </a:spcBef>
              <a:spcAft>
                <a:spcPts val="800"/>
              </a:spcAft>
            </a:pPr>
            <a:r>
              <a:rPr lang="en-US" sz="20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Born:</a:t>
            </a:r>
            <a:r>
              <a:rPr 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17 October 1817</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He observed the </a:t>
            </a: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vacuum between the British administration and Muslims.</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C</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onsequently, he started filling the vacuum by convincing the colonial rulers through his writings and magazines that Muslims are not against the British rulers.</a:t>
            </a:r>
          </a:p>
          <a:p>
            <a:pPr marL="0" marR="0" algn="just">
              <a:lnSpc>
                <a:spcPct val="107000"/>
              </a:lnSpc>
              <a:spcBef>
                <a:spcPts val="0"/>
              </a:spcBef>
              <a:spcAft>
                <a:spcPts val="800"/>
              </a:spcAft>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On the other hand, he started convincing the Muslims to accept the government of British and get an English and Scientific education. Sir Syed persuaded the Muslims to get an education first and then go for politics.</a:t>
            </a:r>
          </a:p>
          <a:p>
            <a:pPr algn="just"/>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0437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EA330-4678-4E43-8EC3-D77482666BB6}"/>
              </a:ext>
            </a:extLst>
          </p:cNvPr>
          <p:cNvSpPr>
            <a:spLocks noGrp="1"/>
          </p:cNvSpPr>
          <p:nvPr>
            <p:ph type="title"/>
          </p:nvPr>
        </p:nvSpPr>
        <p:spPr>
          <a:xfrm>
            <a:off x="1997997" y="1959692"/>
            <a:ext cx="8196004" cy="374924"/>
          </a:xfrm>
        </p:spPr>
        <p:txBody>
          <a:bodyPr>
            <a:normAutofit fontScale="90000"/>
          </a:bodyPr>
          <a:lstStyle/>
          <a:p>
            <a:r>
              <a:rPr lang="en-US" sz="2800" b="1" dirty="0">
                <a:latin typeface="Times New Roman" panose="02020603050405020304" pitchFamily="18" charset="0"/>
                <a:ea typeface="Calibri" panose="020F0502020204030204" pitchFamily="34" charset="0"/>
                <a:cs typeface="Times New Roman" panose="02020603050405020304" pitchFamily="18" charset="0"/>
              </a:rPr>
              <a:t>C</a:t>
            </a: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ontributions of Sir Syed Ahmad Khan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BC15E2-D464-4469-B667-6CCF2B7B53AC}"/>
              </a:ext>
            </a:extLst>
          </p:cNvPr>
          <p:cNvSpPr>
            <a:spLocks noGrp="1"/>
          </p:cNvSpPr>
          <p:nvPr>
            <p:ph idx="1"/>
          </p:nvPr>
        </p:nvSpPr>
        <p:spPr>
          <a:xfrm>
            <a:off x="1295401" y="2334616"/>
            <a:ext cx="9601196" cy="3318936"/>
          </a:xfrm>
        </p:spPr>
        <p:txBody>
          <a:bodyPr>
            <a:noAutofit/>
          </a:bodyPr>
          <a:lstStyle/>
          <a:p>
            <a:pPr algn="just">
              <a:lnSpc>
                <a:spcPct val="107000"/>
              </a:lnSpc>
              <a:spcBef>
                <a:spcPts val="0"/>
              </a:spcBef>
            </a:pPr>
            <a:r>
              <a:rPr lang="en-US" sz="20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Risala</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Asbab</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Baghawat</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Hind</a:t>
            </a:r>
          </a:p>
          <a:p>
            <a:pPr algn="just">
              <a:lnSpc>
                <a:spcPct val="107000"/>
              </a:lnSpc>
              <a:spcBef>
                <a:spcPts val="0"/>
              </a:spcBef>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Establishment of Scientific society</a:t>
            </a:r>
          </a:p>
          <a:p>
            <a:pPr algn="just">
              <a:lnSpc>
                <a:spcPct val="107000"/>
              </a:lnSpc>
              <a:spcBef>
                <a:spcPts val="0"/>
              </a:spcBef>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Establishment of the Aligarh school</a:t>
            </a:r>
          </a:p>
          <a:p>
            <a:pPr algn="just">
              <a:lnSpc>
                <a:spcPct val="107000"/>
              </a:lnSpc>
              <a:spcBef>
                <a:spcPts val="0"/>
              </a:spcBef>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Hindu Muslim Unity</a:t>
            </a:r>
          </a:p>
          <a:p>
            <a:pPr algn="just">
              <a:lnSpc>
                <a:spcPct val="107000"/>
              </a:lnSpc>
              <a:spcBef>
                <a:spcPts val="0"/>
              </a:spcBef>
              <a:spcAft>
                <a:spcPts val="800"/>
              </a:spcAft>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Urdu Hindi controversy</a:t>
            </a:r>
          </a:p>
          <a:p>
            <a:pPr marL="0" marR="0" algn="just">
              <a:lnSpc>
                <a:spcPct val="107000"/>
              </a:lnSpc>
              <a:spcBef>
                <a:spcPts val="0"/>
              </a:spcBef>
              <a:spcAft>
                <a:spcPts val="800"/>
              </a:spcAft>
            </a:pP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Sir Syed Ahmad Khan’s view of the Two </a:t>
            </a:r>
            <a:r>
              <a:rPr lang="en-US" sz="20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N</a:t>
            </a: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ation </a:t>
            </a:r>
            <a:r>
              <a:rPr lang="en-US" sz="20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a:t>
            </a: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heory:</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solidFill>
                  <a:schemeClr val="tx1"/>
                </a:solidFill>
                <a:effectLst/>
                <a:latin typeface="Times New Roman" panose="02020603050405020304" pitchFamily="18" charset="0"/>
                <a:ea typeface="Calibri" panose="020F0502020204030204" pitchFamily="34" charset="0"/>
              </a:rPr>
              <a:t>Sir Syed Ahmad Khan is considered the founder of the two Nation theory who identified the Muslims as a separate nation from Hindus. Later on, </a:t>
            </a:r>
            <a:r>
              <a:rPr lang="en-US" sz="2000" b="1" dirty="0">
                <a:solidFill>
                  <a:schemeClr val="tx1"/>
                </a:solidFill>
                <a:effectLst/>
                <a:latin typeface="Times New Roman" panose="02020603050405020304" pitchFamily="18" charset="0"/>
                <a:ea typeface="Calibri" panose="020F0502020204030204" pitchFamily="34" charset="0"/>
              </a:rPr>
              <a:t>Muhammad Ali Jinnah</a:t>
            </a:r>
            <a:r>
              <a:rPr lang="en-US" sz="2000" dirty="0">
                <a:solidFill>
                  <a:schemeClr val="tx1"/>
                </a:solidFill>
                <a:effectLst/>
                <a:latin typeface="Times New Roman" panose="02020603050405020304" pitchFamily="18" charset="0"/>
                <a:ea typeface="Calibri" panose="020F0502020204030204" pitchFamily="34" charset="0"/>
              </a:rPr>
              <a:t> recognized the Muslims as a separate nation by every definition, be it </a:t>
            </a:r>
            <a:r>
              <a:rPr lang="en-US" sz="2000" b="1" dirty="0">
                <a:solidFill>
                  <a:schemeClr val="tx1"/>
                </a:solidFill>
                <a:effectLst/>
                <a:latin typeface="Times New Roman" panose="02020603050405020304" pitchFamily="18" charset="0"/>
                <a:ea typeface="Calibri" panose="020F0502020204030204" pitchFamily="34" charset="0"/>
              </a:rPr>
              <a:t>culture, religion, customs and origin</a:t>
            </a:r>
            <a:r>
              <a:rPr lang="en-US" sz="2000" dirty="0">
                <a:solidFill>
                  <a:schemeClr val="tx1"/>
                </a:solidFill>
                <a:effectLst/>
                <a:latin typeface="Times New Roman" panose="02020603050405020304" pitchFamily="18" charset="0"/>
                <a:ea typeface="Calibri" panose="020F0502020204030204" pitchFamily="34" charset="0"/>
              </a:rPr>
              <a:t>. The subcontinent witnessed the two-nation theory long before the Muslim advent in the subcontinent.</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1773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8C9D3-BCBB-4087-A770-CA72A5065DA8}"/>
              </a:ext>
            </a:extLst>
          </p:cNvPr>
          <p:cNvSpPr>
            <a:spLocks noGrp="1"/>
          </p:cNvSpPr>
          <p:nvPr>
            <p:ph type="title"/>
          </p:nvPr>
        </p:nvSpPr>
        <p:spPr>
          <a:xfrm>
            <a:off x="2809325" y="1862709"/>
            <a:ext cx="5916630" cy="587136"/>
          </a:xfrm>
        </p:spPr>
        <p:txBody>
          <a:bodyPr>
            <a:normAutofit/>
          </a:bodyPr>
          <a:lstStyle/>
          <a:p>
            <a:r>
              <a:rPr lang="en-US" sz="2800" b="1" dirty="0">
                <a:latin typeface="Times New Roman" panose="02020603050405020304" pitchFamily="18" charset="0"/>
                <a:cs typeface="Times New Roman" panose="02020603050405020304" pitchFamily="18" charset="0"/>
              </a:rPr>
              <a:t>The Religious Institutions</a:t>
            </a:r>
          </a:p>
        </p:txBody>
      </p:sp>
      <p:sp>
        <p:nvSpPr>
          <p:cNvPr id="3" name="Content Placeholder 2">
            <a:extLst>
              <a:ext uri="{FF2B5EF4-FFF2-40B4-BE49-F238E27FC236}">
                <a16:creationId xmlns:a16="http://schemas.microsoft.com/office/drawing/2014/main" id="{0722FB93-8B4C-4AD8-95CE-6CCB6DD2CBA6}"/>
              </a:ext>
            </a:extLst>
          </p:cNvPr>
          <p:cNvSpPr>
            <a:spLocks noGrp="1"/>
          </p:cNvSpPr>
          <p:nvPr>
            <p:ph idx="1"/>
          </p:nvPr>
        </p:nvSpPr>
        <p:spPr/>
        <p:txBody>
          <a:bodyPr>
            <a:normAutofit/>
          </a:bodyPr>
          <a:lstStyle/>
          <a:p>
            <a:pPr marL="0" marR="0" algn="just">
              <a:lnSpc>
                <a:spcPct val="107000"/>
              </a:lnSpc>
              <a:spcBef>
                <a:spcPts val="0"/>
              </a:spcBef>
              <a:spcAft>
                <a:spcPts val="800"/>
              </a:spcAft>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Aligarh Movement</a:t>
            </a:r>
          </a:p>
          <a:p>
            <a:pPr marL="0" marR="0" algn="just">
              <a:lnSpc>
                <a:spcPct val="107000"/>
              </a:lnSpc>
              <a:spcBef>
                <a:spcPts val="0"/>
              </a:spcBef>
              <a:spcAft>
                <a:spcPts val="800"/>
              </a:spcAft>
            </a:pPr>
            <a:r>
              <a:rPr lang="en-US" sz="20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Darul</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U</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loom Deoband: Founded by Maulana Muhammad </a:t>
            </a:r>
            <a:r>
              <a:rPr lang="en-US" sz="20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Qasim</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purpose of the Madrassa was to revive Islam and to bring the Muslims towards Islam.</a:t>
            </a:r>
          </a:p>
          <a:p>
            <a:pPr algn="just"/>
            <a:r>
              <a:rPr lang="en-US" sz="2000" dirty="0">
                <a:solidFill>
                  <a:schemeClr val="tx1"/>
                </a:solidFill>
                <a:latin typeface="Times New Roman" panose="02020603050405020304" pitchFamily="18" charset="0"/>
                <a:cs typeface="Times New Roman" panose="02020603050405020304" pitchFamily="18" charset="0"/>
              </a:rPr>
              <a:t>The emergence of </a:t>
            </a:r>
            <a:r>
              <a:rPr lang="en-US" sz="2000" dirty="0" err="1">
                <a:solidFill>
                  <a:schemeClr val="tx1"/>
                </a:solidFill>
                <a:latin typeface="Times New Roman" panose="02020603050405020304" pitchFamily="18" charset="0"/>
                <a:cs typeface="Times New Roman" panose="02020603050405020304" pitchFamily="18" charset="0"/>
              </a:rPr>
              <a:t>Nadwat</a:t>
            </a:r>
            <a:r>
              <a:rPr lang="en-US" sz="2000" dirty="0">
                <a:solidFill>
                  <a:schemeClr val="tx1"/>
                </a:solidFill>
                <a:latin typeface="Times New Roman" panose="02020603050405020304" pitchFamily="18" charset="0"/>
                <a:cs typeface="Times New Roman" panose="02020603050405020304" pitchFamily="18" charset="0"/>
              </a:rPr>
              <a:t>-ul-Ulema</a:t>
            </a:r>
          </a:p>
        </p:txBody>
      </p:sp>
    </p:spTree>
    <p:extLst>
      <p:ext uri="{BB962C8B-B14F-4D97-AF65-F5344CB8AC3E}">
        <p14:creationId xmlns:p14="http://schemas.microsoft.com/office/powerpoint/2010/main" val="1488598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BE76B-D0BC-4145-9D7A-0772D3E806F6}"/>
              </a:ext>
            </a:extLst>
          </p:cNvPr>
          <p:cNvSpPr>
            <a:spLocks noGrp="1"/>
          </p:cNvSpPr>
          <p:nvPr>
            <p:ph type="ctrTitle"/>
          </p:nvPr>
        </p:nvSpPr>
        <p:spPr>
          <a:xfrm>
            <a:off x="1524000" y="1863880"/>
            <a:ext cx="9144000" cy="2387600"/>
          </a:xfrm>
        </p:spPr>
        <p:txBody>
          <a:bodyPr>
            <a:normAutofit/>
          </a:bodyPr>
          <a:lstStyle/>
          <a:p>
            <a:r>
              <a:rPr lang="en-US" sz="4000" b="1" dirty="0">
                <a:effectLst/>
                <a:latin typeface="Times New Roman" panose="02020603050405020304" pitchFamily="18" charset="0"/>
                <a:ea typeface="Calibri" panose="020F0502020204030204" pitchFamily="34" charset="0"/>
                <a:cs typeface="Times New Roman" panose="02020603050405020304" pitchFamily="18" charset="0"/>
              </a:rPr>
              <a:t>Muslim Political Development </a:t>
            </a:r>
            <a:br>
              <a:rPr lang="en-US" sz="4000" b="1" dirty="0">
                <a:effectLst/>
                <a:latin typeface="Times New Roman" panose="02020603050405020304" pitchFamily="18" charset="0"/>
                <a:ea typeface="Calibri" panose="020F0502020204030204" pitchFamily="34" charset="0"/>
                <a:cs typeface="Times New Roman" panose="02020603050405020304" pitchFamily="18" charset="0"/>
              </a:rPr>
            </a:br>
            <a:r>
              <a:rPr lang="en-US" sz="4000" b="1" dirty="0">
                <a:effectLst/>
                <a:latin typeface="Times New Roman" panose="02020603050405020304" pitchFamily="18" charset="0"/>
                <a:ea typeface="Calibri" panose="020F0502020204030204" pitchFamily="34" charset="0"/>
                <a:cs typeface="Times New Roman" panose="02020603050405020304" pitchFamily="18" charset="0"/>
              </a:rPr>
              <a:t>1905-1947</a:t>
            </a:r>
            <a:br>
              <a:rPr lang="en-US" sz="4000" b="1" dirty="0">
                <a:effectLst/>
                <a:latin typeface="Times New Roman" panose="02020603050405020304" pitchFamily="18" charset="0"/>
                <a:ea typeface="Calibri" panose="020F0502020204030204" pitchFamily="34" charset="0"/>
                <a:cs typeface="Times New Roman" panose="02020603050405020304" pitchFamily="18" charset="0"/>
              </a:rPr>
            </a:br>
            <a:endParaRPr lang="en-US"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2118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3C677-1F85-4BA6-9C9E-39DCEE0090A8}"/>
              </a:ext>
            </a:extLst>
          </p:cNvPr>
          <p:cNvSpPr>
            <a:spLocks noGrp="1"/>
          </p:cNvSpPr>
          <p:nvPr>
            <p:ph type="title"/>
          </p:nvPr>
        </p:nvSpPr>
        <p:spPr>
          <a:xfrm>
            <a:off x="2576945" y="1814945"/>
            <a:ext cx="6543097" cy="789708"/>
          </a:xfrm>
        </p:spPr>
        <p:txBody>
          <a:bodyPr>
            <a:normAutofit/>
          </a:bodyPr>
          <a:lstStyle/>
          <a:p>
            <a:r>
              <a:rPr lang="en-US" sz="2800" b="1" dirty="0"/>
              <a:t>Muslim Political Organization</a:t>
            </a:r>
          </a:p>
        </p:txBody>
      </p:sp>
      <p:sp>
        <p:nvSpPr>
          <p:cNvPr id="3" name="Content Placeholder 2">
            <a:extLst>
              <a:ext uri="{FF2B5EF4-FFF2-40B4-BE49-F238E27FC236}">
                <a16:creationId xmlns:a16="http://schemas.microsoft.com/office/drawing/2014/main" id="{DB50F33A-4AB5-4730-B1E5-5593A90B6343}"/>
              </a:ext>
            </a:extLst>
          </p:cNvPr>
          <p:cNvSpPr>
            <a:spLocks noGrp="1"/>
          </p:cNvSpPr>
          <p:nvPr>
            <p:ph idx="1"/>
          </p:nvPr>
        </p:nvSpPr>
        <p:spPr>
          <a:xfrm>
            <a:off x="1484310" y="2438399"/>
            <a:ext cx="10018713" cy="3124201"/>
          </a:xfrm>
        </p:spPr>
        <p:txBody>
          <a:bodyPr>
            <a:normAutofit/>
          </a:bodyPr>
          <a:lstStyle/>
          <a:p>
            <a:pPr marL="0" marR="0" algn="just">
              <a:lnSpc>
                <a:spcPct val="107000"/>
              </a:lnSpc>
              <a:spcBef>
                <a:spcPts val="0"/>
              </a:spcBef>
              <a:spcAft>
                <a:spcPts val="800"/>
              </a:spcAft>
            </a:pP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partition of Bengal 1905:</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Due to the vast administration of Bengal, the British viceroy decided to divide Bengal into two parts. The Hindu jealousy and atrocities persuaded the British administration to take their decision back and annulled the partition of Bengal in 1911.</a:t>
            </a:r>
          </a:p>
          <a:p>
            <a:pPr marL="0" marR="0" algn="just">
              <a:lnSpc>
                <a:spcPct val="107000"/>
              </a:lnSpc>
              <a:spcBef>
                <a:spcPts val="0"/>
              </a:spcBef>
              <a:spcAft>
                <a:spcPts val="800"/>
              </a:spcAft>
            </a:pPr>
            <a:r>
              <a:rPr lang="en-US" sz="2000" b="1"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Simla</a:t>
            </a: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Deputation and the </a:t>
            </a:r>
            <a:r>
              <a:rPr lang="en-US" sz="20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formation</a:t>
            </a: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of Muslim League 1906:</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Archibald's</a:t>
            </a:r>
            <a:r>
              <a:rPr 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letter to Mohsin-ul-Mulk to arrange a meeting with the viceroy.</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p>
          <a:p>
            <a:pPr marL="0" marR="0" algn="just">
              <a:lnSpc>
                <a:spcPct val="107000"/>
              </a:lnSpc>
              <a:spcBef>
                <a:spcPts val="0"/>
              </a:spcBef>
              <a:spcAft>
                <a:spcPts val="800"/>
              </a:spcAft>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p>
          <a:p>
            <a:pPr algn="just"/>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9133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2D1A2-5070-42F3-8C2C-4E34D8096EEE}"/>
              </a:ext>
            </a:extLst>
          </p:cNvPr>
          <p:cNvSpPr>
            <a:spLocks noGrp="1"/>
          </p:cNvSpPr>
          <p:nvPr>
            <p:ph type="title"/>
          </p:nvPr>
        </p:nvSpPr>
        <p:spPr>
          <a:xfrm>
            <a:off x="3740727" y="1828800"/>
            <a:ext cx="4922115" cy="678872"/>
          </a:xfrm>
        </p:spPr>
        <p:txBody>
          <a:bodyPr>
            <a:normAutofit/>
          </a:bodyPr>
          <a:lstStyle/>
          <a:p>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The Lucknow Pact 1916</a:t>
            </a:r>
            <a:endParaRPr lang="en-US"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D553FFB-CF95-48A4-80FA-E856FA249BC8}"/>
              </a:ext>
            </a:extLst>
          </p:cNvPr>
          <p:cNvSpPr>
            <a:spLocks noGrp="1"/>
          </p:cNvSpPr>
          <p:nvPr>
            <p:ph idx="1"/>
          </p:nvPr>
        </p:nvSpPr>
        <p:spPr/>
        <p:txBody>
          <a:bodyPr>
            <a:noAutofit/>
          </a:bodyPr>
          <a:lstStyle/>
          <a:p>
            <a:pPr marL="0" marR="0" algn="just">
              <a:lnSpc>
                <a:spcPct val="107000"/>
              </a:lnSpc>
              <a:spcBef>
                <a:spcPts val="0"/>
              </a:spcBef>
              <a:spcAft>
                <a:spcPts val="800"/>
              </a:spcAft>
            </a:pP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 short-lived Hindu Muslim Unity:</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Two members of the Muslim League (ML) approached Muhammad Ali Jinnah to join ML. Jinnah joined ML and started efforts to unite both communities. Finally, in 1916, the annual sessions of ML and congress were arranged by Jinnah in Lucknow.</a:t>
            </a:r>
          </a:p>
          <a:p>
            <a:pPr marL="0" marR="0" algn="just">
              <a:lnSpc>
                <a:spcPct val="107000"/>
              </a:lnSpc>
              <a:spcBef>
                <a:spcPts val="0"/>
              </a:spcBef>
              <a:spcAft>
                <a:spcPts val="800"/>
              </a:spcAft>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Jinnah got the title of </a:t>
            </a: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ambassador of Hindu Muslim Unity</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Mrs. </a:t>
            </a:r>
            <a:r>
              <a:rPr lang="en-US" sz="20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Sarojni</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Naidu</a:t>
            </a:r>
          </a:p>
          <a:p>
            <a:pPr marL="0" marR="0" algn="just">
              <a:lnSpc>
                <a:spcPct val="107000"/>
              </a:lnSpc>
              <a:spcBef>
                <a:spcPts val="0"/>
              </a:spcBef>
              <a:spcAft>
                <a:spcPts val="800"/>
              </a:spcAft>
            </a:pPr>
            <a:r>
              <a:rPr lang="en-US" sz="2000" i="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“Towards the Hindus our attitude should be of goodwill and brotherly feelings. Cooperation in the cause of our motherland should be our guiding principle. India’s real progress can only be achieved by a true understanding of harmonious relations between the two great sister communities.”</a:t>
            </a:r>
            <a:endParaRPr lang="en-US" sz="2000" i="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2444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6BD0A-85CA-4F39-9577-6045E72D88AA}"/>
              </a:ext>
            </a:extLst>
          </p:cNvPr>
          <p:cNvSpPr>
            <a:spLocks noGrp="1"/>
          </p:cNvSpPr>
          <p:nvPr>
            <p:ph type="title"/>
          </p:nvPr>
        </p:nvSpPr>
        <p:spPr>
          <a:xfrm>
            <a:off x="1295402" y="1856509"/>
            <a:ext cx="9601196" cy="554181"/>
          </a:xfrm>
        </p:spPr>
        <p:txBody>
          <a:bodyPr>
            <a:normAutofit/>
          </a:bodyPr>
          <a:lstStyle/>
          <a:p>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The Khilafat Movement 1919-1924:</a:t>
            </a:r>
            <a:endParaRPr lang="en-US"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323A975-A46E-4CC9-81EF-50BEC502D47E}"/>
              </a:ext>
            </a:extLst>
          </p:cNvPr>
          <p:cNvSpPr>
            <a:spLocks noGrp="1"/>
          </p:cNvSpPr>
          <p:nvPr>
            <p:ph idx="1"/>
          </p:nvPr>
        </p:nvSpPr>
        <p:spPr/>
        <p:txBody>
          <a:bodyPr>
            <a:noAutofit/>
          </a:bodyPr>
          <a:lstStyle/>
          <a:p>
            <a:pPr algn="just"/>
            <a:r>
              <a:rPr lang="en-US" sz="2000" dirty="0">
                <a:solidFill>
                  <a:schemeClr val="tx1"/>
                </a:solidFill>
                <a:latin typeface="Times New Roman" panose="02020603050405020304" pitchFamily="18" charset="0"/>
                <a:cs typeface="Times New Roman" panose="02020603050405020304" pitchFamily="18" charset="0"/>
              </a:rPr>
              <a:t>The consequences of World War 1 and the end of the Muslim Caliphate</a:t>
            </a:r>
          </a:p>
          <a:p>
            <a:pPr algn="just"/>
            <a:r>
              <a:rPr lang="en-US" sz="2000" dirty="0">
                <a:solidFill>
                  <a:schemeClr val="tx1"/>
                </a:solidFill>
                <a:latin typeface="Times New Roman" panose="02020603050405020304" pitchFamily="18" charset="0"/>
                <a:cs typeface="Times New Roman" panose="02020603050405020304" pitchFamily="18" charset="0"/>
              </a:rPr>
              <a:t>Gandhi as leader of Khilafat Movement and Noncooperation movement: October 27, 1919, as Khilafat Day</a:t>
            </a:r>
          </a:p>
          <a:p>
            <a:pPr algn="just"/>
            <a:r>
              <a:rPr lang="en-US" sz="2000" dirty="0">
                <a:solidFill>
                  <a:schemeClr val="tx1"/>
                </a:solidFill>
                <a:latin typeface="Times New Roman" panose="02020603050405020304" pitchFamily="18" charset="0"/>
                <a:cs typeface="Times New Roman" panose="02020603050405020304" pitchFamily="18" charset="0"/>
              </a:rPr>
              <a:t>Gandhi’s Argument regarding the Muslims of India</a:t>
            </a:r>
          </a:p>
          <a:p>
            <a:pPr algn="just"/>
            <a:r>
              <a:rPr lang="en-US" sz="2000" dirty="0">
                <a:solidFill>
                  <a:schemeClr val="tx1"/>
                </a:solidFill>
                <a:latin typeface="Times New Roman" panose="02020603050405020304" pitchFamily="18" charset="0"/>
                <a:cs typeface="Times New Roman" panose="02020603050405020304" pitchFamily="18" charset="0"/>
              </a:rPr>
              <a:t>Hindu Muslim Unity</a:t>
            </a:r>
          </a:p>
          <a:p>
            <a:pPr algn="just"/>
            <a:r>
              <a:rPr lang="en-US" sz="2000" dirty="0" err="1">
                <a:solidFill>
                  <a:schemeClr val="tx1"/>
                </a:solidFill>
                <a:latin typeface="Times New Roman" panose="02020603050405020304" pitchFamily="18" charset="0"/>
                <a:cs typeface="Times New Roman" panose="02020603050405020304" pitchFamily="18" charset="0"/>
              </a:rPr>
              <a:t>Ulemas</a:t>
            </a:r>
            <a:r>
              <a:rPr lang="en-US" sz="2000" dirty="0">
                <a:solidFill>
                  <a:schemeClr val="tx1"/>
                </a:solidFill>
                <a:latin typeface="Times New Roman" panose="02020603050405020304" pitchFamily="18" charset="0"/>
                <a:cs typeface="Times New Roman" panose="02020603050405020304" pitchFamily="18" charset="0"/>
              </a:rPr>
              <a:t> contact with the congress leadership</a:t>
            </a:r>
          </a:p>
          <a:p>
            <a:pPr algn="just"/>
            <a:r>
              <a:rPr lang="en-US" sz="2000" dirty="0">
                <a:solidFill>
                  <a:schemeClr val="tx1"/>
                </a:solidFill>
                <a:latin typeface="Times New Roman" panose="02020603050405020304" pitchFamily="18" charset="0"/>
                <a:cs typeface="Times New Roman" panose="02020603050405020304" pitchFamily="18" charset="0"/>
              </a:rPr>
              <a:t>Fatwa from Muslim Ulema and declared India as Dar-ul-</a:t>
            </a:r>
            <a:r>
              <a:rPr lang="en-US" sz="2000" dirty="0" err="1">
                <a:solidFill>
                  <a:schemeClr val="tx1"/>
                </a:solidFill>
                <a:latin typeface="Times New Roman" panose="02020603050405020304" pitchFamily="18" charset="0"/>
                <a:cs typeface="Times New Roman" panose="02020603050405020304" pitchFamily="18" charset="0"/>
              </a:rPr>
              <a:t>Harb</a:t>
            </a:r>
            <a:r>
              <a:rPr lang="en-US" sz="2000" dirty="0">
                <a:solidFill>
                  <a:schemeClr val="tx1"/>
                </a:solidFill>
                <a:latin typeface="Times New Roman" panose="02020603050405020304" pitchFamily="18" charset="0"/>
                <a:cs typeface="Times New Roman" panose="02020603050405020304" pitchFamily="18" charset="0"/>
              </a:rPr>
              <a:t> (region of war)</a:t>
            </a:r>
          </a:p>
          <a:p>
            <a:pPr algn="just"/>
            <a:r>
              <a:rPr lang="en-US" sz="2000" dirty="0" err="1">
                <a:solidFill>
                  <a:schemeClr val="tx1"/>
                </a:solidFill>
                <a:latin typeface="Times New Roman" panose="02020603050405020304" pitchFamily="18" charset="0"/>
                <a:cs typeface="Times New Roman" panose="02020603050405020304" pitchFamily="18" charset="0"/>
              </a:rPr>
              <a:t>Hijrat</a:t>
            </a:r>
            <a:r>
              <a:rPr lang="en-US" sz="2000" dirty="0">
                <a:solidFill>
                  <a:schemeClr val="tx1"/>
                </a:solidFill>
                <a:latin typeface="Times New Roman" panose="02020603050405020304" pitchFamily="18" charset="0"/>
                <a:cs typeface="Times New Roman" panose="02020603050405020304" pitchFamily="18" charset="0"/>
              </a:rPr>
              <a:t> Movement: 18000 people migrated to Afghanistan</a:t>
            </a:r>
          </a:p>
          <a:p>
            <a:pPr algn="just"/>
            <a:r>
              <a:rPr lang="en-US" sz="2000" dirty="0">
                <a:solidFill>
                  <a:schemeClr val="tx1"/>
                </a:solidFill>
                <a:latin typeface="Times New Roman" panose="02020603050405020304" pitchFamily="18" charset="0"/>
                <a:cs typeface="Times New Roman" panose="02020603050405020304" pitchFamily="18" charset="0"/>
              </a:rPr>
              <a:t>Tragedy of Chauri </a:t>
            </a:r>
            <a:r>
              <a:rPr lang="en-US" sz="2000" dirty="0" err="1">
                <a:solidFill>
                  <a:schemeClr val="tx1"/>
                </a:solidFill>
                <a:latin typeface="Times New Roman" panose="02020603050405020304" pitchFamily="18" charset="0"/>
                <a:cs typeface="Times New Roman" panose="02020603050405020304" pitchFamily="18" charset="0"/>
              </a:rPr>
              <a:t>Chaura</a:t>
            </a:r>
            <a:r>
              <a:rPr lang="en-US" sz="2000" dirty="0">
                <a:solidFill>
                  <a:schemeClr val="tx1"/>
                </a:solidFill>
                <a:latin typeface="Times New Roman" panose="02020603050405020304" pitchFamily="18" charset="0"/>
                <a:cs typeface="Times New Roman" panose="02020603050405020304" pitchFamily="18" charset="0"/>
              </a:rPr>
              <a:t> February 5, 1922.</a:t>
            </a:r>
          </a:p>
          <a:p>
            <a:pPr algn="just"/>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7939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2E349-DF4A-4B80-924C-A82C8608AE32}"/>
              </a:ext>
            </a:extLst>
          </p:cNvPr>
          <p:cNvSpPr>
            <a:spLocks noGrp="1"/>
          </p:cNvSpPr>
          <p:nvPr>
            <p:ph type="title"/>
          </p:nvPr>
        </p:nvSpPr>
        <p:spPr>
          <a:xfrm>
            <a:off x="1484311" y="1814052"/>
            <a:ext cx="10018713" cy="624347"/>
          </a:xfrm>
        </p:spPr>
        <p:txBody>
          <a:bodyPr>
            <a:normAutofit/>
          </a:bodyPr>
          <a:lstStyle/>
          <a:p>
            <a:r>
              <a:rPr lang="en-US" sz="2800" b="1" i="0" u="none" strike="noStrike" dirty="0">
                <a:effectLst/>
                <a:latin typeface="Times New Roman" panose="02020603050405020304" pitchFamily="18" charset="0"/>
              </a:rPr>
              <a:t>Allahabad Address</a:t>
            </a:r>
            <a:endParaRPr lang="en-US" sz="2800" dirty="0"/>
          </a:p>
        </p:txBody>
      </p:sp>
      <p:sp>
        <p:nvSpPr>
          <p:cNvPr id="3" name="Content Placeholder 2">
            <a:extLst>
              <a:ext uri="{FF2B5EF4-FFF2-40B4-BE49-F238E27FC236}">
                <a16:creationId xmlns:a16="http://schemas.microsoft.com/office/drawing/2014/main" id="{5F39DB8F-032A-4EEB-B537-BCF8942B5A1C}"/>
              </a:ext>
            </a:extLst>
          </p:cNvPr>
          <p:cNvSpPr>
            <a:spLocks noGrp="1"/>
          </p:cNvSpPr>
          <p:nvPr>
            <p:ph idx="1"/>
          </p:nvPr>
        </p:nvSpPr>
        <p:spPr/>
        <p:txBody>
          <a:bodyPr>
            <a:normAutofit/>
          </a:bodyPr>
          <a:lstStyle/>
          <a:p>
            <a:pPr algn="just" rtl="0" fontAlgn="base">
              <a:spcBef>
                <a:spcPts val="0"/>
              </a:spcBef>
              <a:spcAft>
                <a:spcPts val="0"/>
              </a:spcAft>
              <a:buFont typeface="Arial" panose="020B0604020202020204" pitchFamily="34" charset="0"/>
              <a:buChar char="•"/>
            </a:pPr>
            <a:r>
              <a:rPr lang="en-US" sz="2000" b="0" i="0" u="none" strike="noStrike" dirty="0">
                <a:solidFill>
                  <a:schemeClr val="tx1"/>
                </a:solidFill>
                <a:effectLst/>
                <a:latin typeface="Times New Roman" panose="02020603050405020304" pitchFamily="18" charset="0"/>
              </a:rPr>
              <a:t>Iqbal’s views about the communal problems in India</a:t>
            </a:r>
            <a:endParaRPr lang="en-US" sz="2000" b="0" i="0" u="none" strike="noStrike" dirty="0">
              <a:solidFill>
                <a:schemeClr val="tx1"/>
              </a:solidFill>
              <a:effectLst/>
              <a:latin typeface="Courier New" panose="02070309020205020404" pitchFamily="49" charset="0"/>
            </a:endParaRPr>
          </a:p>
          <a:p>
            <a:pPr algn="just" rtl="0" fontAlgn="base">
              <a:spcBef>
                <a:spcPts val="1400"/>
              </a:spcBef>
              <a:spcAft>
                <a:spcPts val="0"/>
              </a:spcAft>
              <a:buFont typeface="Arial" panose="020B0604020202020204" pitchFamily="34" charset="0"/>
              <a:buChar char="•"/>
            </a:pPr>
            <a:r>
              <a:rPr lang="en-US" sz="2000" b="0" i="0" u="none" strike="noStrike" dirty="0">
                <a:solidFill>
                  <a:schemeClr val="tx1"/>
                </a:solidFill>
                <a:effectLst/>
                <a:latin typeface="Times New Roman" panose="02020603050405020304" pitchFamily="18" charset="0"/>
              </a:rPr>
              <a:t>Allahabad Address:</a:t>
            </a:r>
            <a:endParaRPr lang="en-US" sz="2000" b="0" i="0" u="none" strike="noStrike" dirty="0">
              <a:solidFill>
                <a:schemeClr val="tx1"/>
              </a:solidFill>
              <a:effectLst/>
              <a:latin typeface="Courier New" panose="02070309020205020404" pitchFamily="49" charset="0"/>
            </a:endParaRPr>
          </a:p>
          <a:p>
            <a:pPr algn="just" rtl="0" fontAlgn="base">
              <a:spcBef>
                <a:spcPts val="1400"/>
              </a:spcBef>
              <a:spcAft>
                <a:spcPts val="0"/>
              </a:spcAft>
              <a:buFont typeface="Arial" panose="020B0604020202020204" pitchFamily="34" charset="0"/>
              <a:buChar char="•"/>
            </a:pPr>
            <a:r>
              <a:rPr lang="en-US" sz="2000" b="0" i="0" u="none" strike="noStrike" dirty="0" err="1">
                <a:solidFill>
                  <a:schemeClr val="tx1"/>
                </a:solidFill>
                <a:effectLst/>
                <a:latin typeface="Times New Roman" panose="02020603050405020304" pitchFamily="18" charset="0"/>
              </a:rPr>
              <a:t>Allama</a:t>
            </a:r>
            <a:r>
              <a:rPr lang="en-US" sz="2000" b="0" i="0" u="none" strike="noStrike" dirty="0">
                <a:solidFill>
                  <a:schemeClr val="tx1"/>
                </a:solidFill>
                <a:effectLst/>
                <a:latin typeface="Times New Roman" panose="02020603050405020304" pitchFamily="18" charset="0"/>
              </a:rPr>
              <a:t> Muhammad Iqbal viewed that Punjab, NWFP, Sindh, and Baluchistan amalgamated into one state with self-government. Because the Muslims would never change to a constitutional change because they do not want to live with Hindus. </a:t>
            </a:r>
            <a:endParaRPr lang="en-US" sz="2000" b="0" i="0" u="none" strike="noStrike" dirty="0">
              <a:solidFill>
                <a:schemeClr val="tx1"/>
              </a:solidFill>
              <a:effectLst/>
              <a:latin typeface="Courier New" panose="02070309020205020404" pitchFamily="49" charset="0"/>
            </a:endParaRPr>
          </a:p>
          <a:p>
            <a:pPr marL="0" indent="0" algn="just">
              <a:buNone/>
            </a:pPr>
            <a:endParaRPr lang="en-US" sz="2000" dirty="0">
              <a:solidFill>
                <a:schemeClr val="tx1"/>
              </a:solidFill>
            </a:endParaRPr>
          </a:p>
        </p:txBody>
      </p:sp>
    </p:spTree>
    <p:extLst>
      <p:ext uri="{BB962C8B-B14F-4D97-AF65-F5344CB8AC3E}">
        <p14:creationId xmlns:p14="http://schemas.microsoft.com/office/powerpoint/2010/main" val="3334768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823FC-7646-47F0-8143-578451AF9482}"/>
              </a:ext>
            </a:extLst>
          </p:cNvPr>
          <p:cNvSpPr>
            <a:spLocks noGrp="1"/>
          </p:cNvSpPr>
          <p:nvPr>
            <p:ph type="title"/>
          </p:nvPr>
        </p:nvSpPr>
        <p:spPr>
          <a:xfrm>
            <a:off x="1295401" y="1814052"/>
            <a:ext cx="10018713" cy="624347"/>
          </a:xfrm>
        </p:spPr>
        <p:txBody>
          <a:bodyPr>
            <a:normAutofit/>
          </a:bodyPr>
          <a:lstStyle/>
          <a:p>
            <a:r>
              <a:rPr lang="en-US" sz="3200" b="1" dirty="0"/>
              <a:t>Congress Ministries</a:t>
            </a:r>
          </a:p>
        </p:txBody>
      </p:sp>
      <p:sp>
        <p:nvSpPr>
          <p:cNvPr id="3" name="Content Placeholder 2">
            <a:extLst>
              <a:ext uri="{FF2B5EF4-FFF2-40B4-BE49-F238E27FC236}">
                <a16:creationId xmlns:a16="http://schemas.microsoft.com/office/drawing/2014/main" id="{10F27376-2A9D-407B-9841-191C034FA131}"/>
              </a:ext>
            </a:extLst>
          </p:cNvPr>
          <p:cNvSpPr>
            <a:spLocks noGrp="1"/>
          </p:cNvSpPr>
          <p:nvPr>
            <p:ph idx="1"/>
          </p:nvPr>
        </p:nvSpPr>
        <p:spPr/>
        <p:txBody>
          <a:bodyPr>
            <a:normAutofit/>
          </a:bodyPr>
          <a:lstStyle/>
          <a:p>
            <a:pPr rtl="0" fontAlgn="base">
              <a:spcBef>
                <a:spcPts val="0"/>
              </a:spcBef>
              <a:spcAft>
                <a:spcPts val="0"/>
              </a:spcAft>
              <a:buFont typeface="Arial" panose="020B0604020202020204" pitchFamily="34" charset="0"/>
              <a:buChar char="•"/>
            </a:pPr>
            <a:r>
              <a:rPr lang="en-US" sz="2000" b="0" i="0" u="none" strike="noStrike" dirty="0">
                <a:solidFill>
                  <a:schemeClr val="tx1"/>
                </a:solidFill>
                <a:effectLst/>
                <a:latin typeface="Times New Roman" panose="02020603050405020304" pitchFamily="18" charset="0"/>
              </a:rPr>
              <a:t>Elections of 1937</a:t>
            </a:r>
            <a:endParaRPr lang="en-US" sz="2000" b="0" i="0" u="none" strike="noStrike" dirty="0">
              <a:solidFill>
                <a:schemeClr val="tx1"/>
              </a:solidFill>
              <a:effectLst/>
              <a:latin typeface="Courier New" panose="02070309020205020404" pitchFamily="49" charset="0"/>
            </a:endParaRPr>
          </a:p>
          <a:p>
            <a:pPr rtl="0" fontAlgn="base">
              <a:spcBef>
                <a:spcPts val="1400"/>
              </a:spcBef>
              <a:spcAft>
                <a:spcPts val="0"/>
              </a:spcAft>
              <a:buFont typeface="Arial" panose="020B0604020202020204" pitchFamily="34" charset="0"/>
              <a:buChar char="•"/>
            </a:pPr>
            <a:r>
              <a:rPr lang="en-US" sz="2000" b="0" i="0" u="none" strike="noStrike" dirty="0">
                <a:solidFill>
                  <a:schemeClr val="tx1"/>
                </a:solidFill>
                <a:effectLst/>
                <a:latin typeface="Times New Roman" panose="02020603050405020304" pitchFamily="18" charset="0"/>
              </a:rPr>
              <a:t>Elections were held against 1771 seats of the provincial assemblies. Both the Congress and the Muslim League decided to participate. </a:t>
            </a:r>
            <a:endParaRPr lang="en-US" sz="2000" b="0" i="0" u="none" strike="noStrike" dirty="0">
              <a:solidFill>
                <a:schemeClr val="tx1"/>
              </a:solidFill>
              <a:effectLst/>
              <a:latin typeface="Courier New" panose="02070309020205020404" pitchFamily="49" charset="0"/>
            </a:endParaRPr>
          </a:p>
          <a:p>
            <a:pPr rtl="0" fontAlgn="base">
              <a:spcBef>
                <a:spcPts val="1400"/>
              </a:spcBef>
              <a:spcAft>
                <a:spcPts val="0"/>
              </a:spcAft>
              <a:buFont typeface="Arial" panose="020B0604020202020204" pitchFamily="34" charset="0"/>
              <a:buChar char="•"/>
            </a:pPr>
            <a:r>
              <a:rPr lang="en-US" sz="2000" b="0" i="0" u="none" strike="noStrike" dirty="0">
                <a:solidFill>
                  <a:schemeClr val="tx1"/>
                </a:solidFill>
                <a:effectLst/>
                <a:latin typeface="Times New Roman" panose="02020603050405020304" pitchFamily="18" charset="0"/>
              </a:rPr>
              <a:t>Congress achieved victory and won 706 seats out of 1771 seats in 11 provinces and the Congress party also won 26 seats out of 491 Muslim seats whereas the Muslim League won only 106 seats. </a:t>
            </a:r>
            <a:endParaRPr lang="en-US" sz="2000" b="0" i="0" u="none" strike="noStrike" dirty="0">
              <a:solidFill>
                <a:schemeClr val="tx1"/>
              </a:solidFill>
              <a:effectLst/>
              <a:latin typeface="Courier New" panose="02070309020205020404" pitchFamily="49" charset="0"/>
            </a:endParaRPr>
          </a:p>
          <a:p>
            <a:pPr rtl="0" fontAlgn="base">
              <a:spcBef>
                <a:spcPts val="1400"/>
              </a:spcBef>
              <a:spcAft>
                <a:spcPts val="0"/>
              </a:spcAft>
              <a:buFont typeface="Arial" panose="020B0604020202020204" pitchFamily="34" charset="0"/>
              <a:buChar char="•"/>
            </a:pPr>
            <a:r>
              <a:rPr lang="en-US" sz="2000" b="0" i="0" u="none" strike="noStrike" dirty="0">
                <a:solidFill>
                  <a:schemeClr val="tx1"/>
                </a:solidFill>
                <a:effectLst/>
                <a:latin typeface="Times New Roman" panose="02020603050405020304" pitchFamily="18" charset="0"/>
              </a:rPr>
              <a:t>The Congress and the Muslim League formed a government. </a:t>
            </a:r>
            <a:endParaRPr lang="en-US" sz="2000" b="0" i="0" u="none" strike="noStrike" dirty="0">
              <a:solidFill>
                <a:schemeClr val="tx1"/>
              </a:solidFill>
              <a:effectLst/>
              <a:latin typeface="Courier New" panose="02070309020205020404" pitchFamily="49" charset="0"/>
            </a:endParaRPr>
          </a:p>
          <a:p>
            <a:endParaRPr lang="en-US" sz="2000" dirty="0">
              <a:solidFill>
                <a:schemeClr val="tx1"/>
              </a:solidFill>
            </a:endParaRPr>
          </a:p>
        </p:txBody>
      </p:sp>
    </p:spTree>
    <p:extLst>
      <p:ext uri="{BB962C8B-B14F-4D97-AF65-F5344CB8AC3E}">
        <p14:creationId xmlns:p14="http://schemas.microsoft.com/office/powerpoint/2010/main" val="1706257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70FAF-5FF6-49EB-8422-DF4C020217DA}"/>
              </a:ext>
            </a:extLst>
          </p:cNvPr>
          <p:cNvSpPr>
            <a:spLocks noGrp="1"/>
          </p:cNvSpPr>
          <p:nvPr>
            <p:ph type="title"/>
          </p:nvPr>
        </p:nvSpPr>
        <p:spPr>
          <a:xfrm>
            <a:off x="1512020" y="1801091"/>
            <a:ext cx="10018713" cy="635968"/>
          </a:xfrm>
        </p:spPr>
        <p:txBody>
          <a:bodyPr>
            <a:normAutofit/>
          </a:bodyPr>
          <a:lstStyle/>
          <a:p>
            <a:r>
              <a:rPr lang="en-US" sz="3200" b="1" i="0" u="none" strike="noStrike" dirty="0">
                <a:effectLst/>
                <a:latin typeface="Times New Roman" panose="02020603050405020304" pitchFamily="18" charset="0"/>
              </a:rPr>
              <a:t>Congress Policies of Persecution</a:t>
            </a:r>
            <a:endParaRPr lang="en-US" sz="3200" dirty="0"/>
          </a:p>
        </p:txBody>
      </p:sp>
      <p:sp>
        <p:nvSpPr>
          <p:cNvPr id="3" name="Content Placeholder 2">
            <a:extLst>
              <a:ext uri="{FF2B5EF4-FFF2-40B4-BE49-F238E27FC236}">
                <a16:creationId xmlns:a16="http://schemas.microsoft.com/office/drawing/2014/main" id="{7FD8C8D8-6F28-46AC-957B-599300AA4EB3}"/>
              </a:ext>
            </a:extLst>
          </p:cNvPr>
          <p:cNvSpPr>
            <a:spLocks noGrp="1"/>
          </p:cNvSpPr>
          <p:nvPr>
            <p:ph idx="1"/>
          </p:nvPr>
        </p:nvSpPr>
        <p:spPr/>
        <p:txBody>
          <a:bodyPr>
            <a:noAutofit/>
          </a:bodyPr>
          <a:lstStyle/>
          <a:p>
            <a:pPr algn="just" rtl="0" fontAlgn="base">
              <a:spcBef>
                <a:spcPts val="0"/>
              </a:spcBef>
              <a:spcAft>
                <a:spcPts val="0"/>
              </a:spcAft>
              <a:buFont typeface="Arial" panose="020B0604020202020204" pitchFamily="34" charset="0"/>
              <a:buChar char="•"/>
            </a:pPr>
            <a:r>
              <a:rPr lang="en-US" sz="2000" b="0" i="0" u="none" strike="noStrike" dirty="0">
                <a:solidFill>
                  <a:schemeClr val="tx1"/>
                </a:solidFill>
                <a:effectLst/>
                <a:latin typeface="Times New Roman" panose="02020603050405020304" pitchFamily="18" charset="0"/>
              </a:rPr>
              <a:t>Communal riots</a:t>
            </a:r>
            <a:endParaRPr lang="en-US" sz="2000" b="0" i="0" u="none" strike="noStrike" dirty="0">
              <a:solidFill>
                <a:schemeClr val="tx1"/>
              </a:solidFill>
              <a:effectLst/>
              <a:latin typeface="Courier New" panose="02070309020205020404" pitchFamily="49" charset="0"/>
            </a:endParaRPr>
          </a:p>
          <a:p>
            <a:pPr algn="just" rtl="0" fontAlgn="base">
              <a:spcBef>
                <a:spcPts val="1400"/>
              </a:spcBef>
              <a:spcAft>
                <a:spcPts val="0"/>
              </a:spcAft>
              <a:buFont typeface="Arial" panose="020B0604020202020204" pitchFamily="34" charset="0"/>
              <a:buChar char="•"/>
            </a:pPr>
            <a:r>
              <a:rPr lang="en-US" sz="2000" b="0" i="0" u="none" strike="noStrike" dirty="0">
                <a:solidFill>
                  <a:schemeClr val="tx1"/>
                </a:solidFill>
                <a:effectLst/>
                <a:latin typeface="Times New Roman" panose="02020603050405020304" pitchFamily="18" charset="0"/>
              </a:rPr>
              <a:t>Bande </a:t>
            </a:r>
            <a:r>
              <a:rPr lang="en-US" sz="2000" b="0" i="0" u="none" strike="noStrike" dirty="0" err="1">
                <a:solidFill>
                  <a:schemeClr val="tx1"/>
                </a:solidFill>
                <a:effectLst/>
                <a:latin typeface="Times New Roman" panose="02020603050405020304" pitchFamily="18" charset="0"/>
              </a:rPr>
              <a:t>Mataram</a:t>
            </a:r>
            <a:r>
              <a:rPr lang="en-US" sz="2000" b="0" i="0" u="none" strike="noStrike" dirty="0">
                <a:solidFill>
                  <a:schemeClr val="tx1"/>
                </a:solidFill>
                <a:effectLst/>
                <a:latin typeface="Times New Roman" panose="02020603050405020304" pitchFamily="18" charset="0"/>
              </a:rPr>
              <a:t> and its slogan</a:t>
            </a:r>
            <a:endParaRPr lang="en-US" sz="2000" b="0" i="0" u="none" strike="noStrike" dirty="0">
              <a:solidFill>
                <a:schemeClr val="tx1"/>
              </a:solidFill>
              <a:effectLst/>
              <a:latin typeface="Courier New" panose="02070309020205020404" pitchFamily="49" charset="0"/>
            </a:endParaRPr>
          </a:p>
          <a:p>
            <a:pPr algn="just" rtl="0" fontAlgn="base">
              <a:spcBef>
                <a:spcPts val="1400"/>
              </a:spcBef>
              <a:spcAft>
                <a:spcPts val="0"/>
              </a:spcAft>
              <a:buFont typeface="Arial" panose="020B0604020202020204" pitchFamily="34" charset="0"/>
              <a:buChar char="•"/>
            </a:pPr>
            <a:r>
              <a:rPr lang="en-US" sz="2000" b="0" i="0" u="none" strike="noStrike" dirty="0">
                <a:solidFill>
                  <a:schemeClr val="tx1"/>
                </a:solidFill>
                <a:effectLst/>
                <a:latin typeface="Times New Roman" panose="02020603050405020304" pitchFamily="18" charset="0"/>
              </a:rPr>
              <a:t>Mass contact Movement</a:t>
            </a:r>
            <a:endParaRPr lang="en-US" sz="2000" b="0" i="0" u="none" strike="noStrike" dirty="0">
              <a:solidFill>
                <a:schemeClr val="tx1"/>
              </a:solidFill>
              <a:effectLst/>
              <a:latin typeface="Courier New" panose="02070309020205020404" pitchFamily="49" charset="0"/>
            </a:endParaRPr>
          </a:p>
          <a:p>
            <a:pPr algn="just" rtl="0" fontAlgn="base">
              <a:spcBef>
                <a:spcPts val="1400"/>
              </a:spcBef>
              <a:spcAft>
                <a:spcPts val="0"/>
              </a:spcAft>
              <a:buFont typeface="Arial" panose="020B0604020202020204" pitchFamily="34" charset="0"/>
              <a:buChar char="•"/>
            </a:pPr>
            <a:r>
              <a:rPr lang="en-US" sz="2000" b="0" i="0" u="none" strike="noStrike" dirty="0">
                <a:solidFill>
                  <a:schemeClr val="tx1"/>
                </a:solidFill>
                <a:effectLst/>
                <a:latin typeface="Times New Roman" panose="02020603050405020304" pitchFamily="18" charset="0"/>
              </a:rPr>
              <a:t>Extermination of Urdu</a:t>
            </a:r>
            <a:endParaRPr lang="en-US" sz="2000" b="0" i="0" u="none" strike="noStrike" dirty="0">
              <a:solidFill>
                <a:schemeClr val="tx1"/>
              </a:solidFill>
              <a:effectLst/>
              <a:latin typeface="Courier New" panose="02070309020205020404" pitchFamily="49" charset="0"/>
            </a:endParaRPr>
          </a:p>
          <a:p>
            <a:pPr algn="just" rtl="0" fontAlgn="base">
              <a:spcBef>
                <a:spcPts val="1400"/>
              </a:spcBef>
              <a:spcAft>
                <a:spcPts val="0"/>
              </a:spcAft>
              <a:buFont typeface="Arial" panose="020B0604020202020204" pitchFamily="34" charset="0"/>
              <a:buChar char="•"/>
            </a:pPr>
            <a:r>
              <a:rPr lang="en-US" sz="2000" b="0" i="0" u="none" strike="noStrike" dirty="0">
                <a:solidFill>
                  <a:schemeClr val="tx1"/>
                </a:solidFill>
                <a:effectLst/>
                <a:latin typeface="Times New Roman" panose="02020603050405020304" pitchFamily="18" charset="0"/>
              </a:rPr>
              <a:t>Enforcement of Hindu customs</a:t>
            </a:r>
            <a:endParaRPr lang="en-US" sz="2000" b="0" i="0" u="none" strike="noStrike" dirty="0">
              <a:solidFill>
                <a:schemeClr val="tx1"/>
              </a:solidFill>
              <a:effectLst/>
              <a:latin typeface="Courier New" panose="02070309020205020404" pitchFamily="49" charset="0"/>
            </a:endParaRPr>
          </a:p>
          <a:p>
            <a:pPr algn="just" rtl="0" fontAlgn="base">
              <a:spcBef>
                <a:spcPts val="1400"/>
              </a:spcBef>
              <a:spcAft>
                <a:spcPts val="0"/>
              </a:spcAft>
              <a:buFont typeface="Arial" panose="020B0604020202020204" pitchFamily="34" charset="0"/>
              <a:buChar char="•"/>
            </a:pPr>
            <a:r>
              <a:rPr lang="en-US" sz="2000" b="0" i="0" u="none" strike="noStrike" dirty="0">
                <a:solidFill>
                  <a:schemeClr val="tx1"/>
                </a:solidFill>
                <a:effectLst/>
                <a:latin typeface="Times New Roman" panose="02020603050405020304" pitchFamily="18" charset="0"/>
              </a:rPr>
              <a:t>Economic Deterioration and exploitation </a:t>
            </a:r>
            <a:endParaRPr lang="en-US" sz="2000" b="0" i="0" u="none" strike="noStrike" dirty="0">
              <a:solidFill>
                <a:schemeClr val="tx1"/>
              </a:solidFill>
              <a:effectLst/>
              <a:latin typeface="Courier New" panose="02070309020205020404" pitchFamily="49" charset="0"/>
            </a:endParaRPr>
          </a:p>
          <a:p>
            <a:pPr algn="just" rtl="0" fontAlgn="base">
              <a:spcBef>
                <a:spcPts val="1400"/>
              </a:spcBef>
              <a:spcAft>
                <a:spcPts val="0"/>
              </a:spcAft>
              <a:buFont typeface="Arial" panose="020B0604020202020204" pitchFamily="34" charset="0"/>
              <a:buChar char="•"/>
            </a:pPr>
            <a:r>
              <a:rPr lang="en-US" sz="2000" b="0" i="0" u="none" strike="noStrike" dirty="0">
                <a:solidFill>
                  <a:schemeClr val="tx1"/>
                </a:solidFill>
                <a:effectLst/>
                <a:latin typeface="Times New Roman" panose="02020603050405020304" pitchFamily="18" charset="0"/>
              </a:rPr>
              <a:t>End of the Congress rule</a:t>
            </a:r>
            <a:endParaRPr lang="en-US" sz="2000" b="0" i="0" u="none" strike="noStrike" dirty="0">
              <a:solidFill>
                <a:schemeClr val="tx1"/>
              </a:solidFill>
              <a:effectLst/>
              <a:latin typeface="Courier New" panose="02070309020205020404" pitchFamily="49" charset="0"/>
            </a:endParaRPr>
          </a:p>
          <a:p>
            <a:r>
              <a:rPr lang="en-US" sz="2000" b="0" i="0" u="none" strike="noStrike" dirty="0">
                <a:solidFill>
                  <a:schemeClr val="tx1"/>
                </a:solidFill>
                <a:effectLst/>
                <a:latin typeface="Times New Roman" panose="02020603050405020304" pitchFamily="18" charset="0"/>
              </a:rPr>
              <a:t>Day of Deliverance 22</a:t>
            </a:r>
            <a:r>
              <a:rPr lang="en-US" sz="2000" b="0" i="0" u="none" strike="noStrike" baseline="30000" dirty="0">
                <a:solidFill>
                  <a:schemeClr val="tx1"/>
                </a:solidFill>
                <a:effectLst/>
                <a:latin typeface="Times New Roman" panose="02020603050405020304" pitchFamily="18" charset="0"/>
              </a:rPr>
              <a:t>nd</a:t>
            </a:r>
            <a:r>
              <a:rPr lang="en-US" sz="2000" b="0" i="0" u="none" strike="noStrike" dirty="0">
                <a:solidFill>
                  <a:schemeClr val="tx1"/>
                </a:solidFill>
                <a:effectLst/>
                <a:latin typeface="Times New Roman" panose="02020603050405020304" pitchFamily="18" charset="0"/>
              </a:rPr>
              <a:t> December 1939</a:t>
            </a:r>
            <a:endParaRPr lang="en-US" sz="2000" dirty="0">
              <a:solidFill>
                <a:schemeClr val="tx1"/>
              </a:solidFill>
            </a:endParaRPr>
          </a:p>
        </p:txBody>
      </p:sp>
    </p:spTree>
    <p:extLst>
      <p:ext uri="{BB962C8B-B14F-4D97-AF65-F5344CB8AC3E}">
        <p14:creationId xmlns:p14="http://schemas.microsoft.com/office/powerpoint/2010/main" val="687658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11F1D-E9FD-4C45-8E2F-EDEC542DB8EB}"/>
              </a:ext>
            </a:extLst>
          </p:cNvPr>
          <p:cNvSpPr>
            <a:spLocks noGrp="1"/>
          </p:cNvSpPr>
          <p:nvPr>
            <p:ph type="title"/>
          </p:nvPr>
        </p:nvSpPr>
        <p:spPr>
          <a:xfrm>
            <a:off x="1295402" y="1925782"/>
            <a:ext cx="9601196" cy="526472"/>
          </a:xfrm>
        </p:spPr>
        <p:txBody>
          <a:bodyPr>
            <a:normAutofit fontScale="90000"/>
          </a:bodyPr>
          <a:lstStyle/>
          <a:p>
            <a:r>
              <a:rPr lang="en-US" sz="3200" b="1" i="0" u="none" strike="noStrike" dirty="0">
                <a:effectLst/>
                <a:latin typeface="Times New Roman" panose="02020603050405020304" pitchFamily="18" charset="0"/>
                <a:cs typeface="Times New Roman" panose="02020603050405020304" pitchFamily="18" charset="0"/>
              </a:rPr>
              <a:t>Lahore Resolution 1940</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8B52DF6-DE9E-4D30-956A-B2DCF5687645}"/>
              </a:ext>
            </a:extLst>
          </p:cNvPr>
          <p:cNvSpPr>
            <a:spLocks noGrp="1"/>
          </p:cNvSpPr>
          <p:nvPr>
            <p:ph idx="1"/>
          </p:nvPr>
        </p:nvSpPr>
        <p:spPr>
          <a:xfrm>
            <a:off x="1295402" y="2452254"/>
            <a:ext cx="10018713" cy="3124201"/>
          </a:xfrm>
        </p:spPr>
        <p:txBody>
          <a:bodyPr>
            <a:noAutofit/>
          </a:bodyPr>
          <a:lstStyle/>
          <a:p>
            <a:pPr algn="just" rtl="0" fontAlgn="base">
              <a:spcBef>
                <a:spcPts val="0"/>
              </a:spcBef>
              <a:spcAft>
                <a:spcPts val="0"/>
              </a:spcAft>
              <a:buFont typeface="Arial" panose="020B0604020202020204" pitchFamily="34" charset="0"/>
              <a:buChar char="•"/>
            </a:pPr>
            <a:r>
              <a:rPr lang="en-US" sz="2000" b="0" i="0" u="none" strike="noStrike" dirty="0">
                <a:solidFill>
                  <a:schemeClr val="tx1"/>
                </a:solidFill>
                <a:effectLst/>
                <a:latin typeface="Times New Roman" panose="02020603050405020304" pitchFamily="18" charset="0"/>
              </a:rPr>
              <a:t>Lahore resolution or Pakistan Resolution 1940</a:t>
            </a:r>
            <a:endParaRPr lang="en-US" sz="2000" b="0" i="0" u="none" strike="noStrike" dirty="0">
              <a:solidFill>
                <a:schemeClr val="tx1"/>
              </a:solidFill>
              <a:effectLst/>
              <a:latin typeface="Courier New" panose="02070309020205020404" pitchFamily="49" charset="0"/>
            </a:endParaRPr>
          </a:p>
          <a:p>
            <a:pPr algn="just" rtl="0" fontAlgn="base">
              <a:spcBef>
                <a:spcPts val="1400"/>
              </a:spcBef>
              <a:spcAft>
                <a:spcPts val="0"/>
              </a:spcAft>
              <a:buFont typeface="Arial" panose="020B0604020202020204" pitchFamily="34" charset="0"/>
              <a:buChar char="•"/>
            </a:pPr>
            <a:r>
              <a:rPr lang="en-US" sz="2000" b="0" i="0" u="none" strike="noStrike" dirty="0">
                <a:solidFill>
                  <a:schemeClr val="tx1"/>
                </a:solidFill>
                <a:effectLst/>
                <a:latin typeface="Times New Roman" panose="02020603050405020304" pitchFamily="18" charset="0"/>
              </a:rPr>
              <a:t>The episode was held in Lahore from 22</a:t>
            </a:r>
            <a:r>
              <a:rPr lang="en-US" sz="2000" b="0" i="0" u="none" strike="noStrike" baseline="30000" dirty="0">
                <a:solidFill>
                  <a:schemeClr val="tx1"/>
                </a:solidFill>
                <a:effectLst/>
                <a:latin typeface="Times New Roman" panose="02020603050405020304" pitchFamily="18" charset="0"/>
              </a:rPr>
              <a:t>nd</a:t>
            </a:r>
            <a:r>
              <a:rPr lang="en-US" sz="2000" b="0" i="0" u="none" strike="noStrike" dirty="0">
                <a:solidFill>
                  <a:schemeClr val="tx1"/>
                </a:solidFill>
                <a:effectLst/>
                <a:latin typeface="Times New Roman" panose="02020603050405020304" pitchFamily="18" charset="0"/>
              </a:rPr>
              <a:t> to 23 March 1940. </a:t>
            </a:r>
            <a:endParaRPr lang="en-US" sz="2000" b="0" i="0" u="none" strike="noStrike" dirty="0">
              <a:solidFill>
                <a:schemeClr val="tx1"/>
              </a:solidFill>
              <a:effectLst/>
              <a:latin typeface="Courier New" panose="02070309020205020404" pitchFamily="49" charset="0"/>
            </a:endParaRPr>
          </a:p>
          <a:p>
            <a:pPr algn="just" rtl="0" fontAlgn="base">
              <a:spcBef>
                <a:spcPts val="1400"/>
              </a:spcBef>
              <a:spcAft>
                <a:spcPts val="0"/>
              </a:spcAft>
              <a:buFont typeface="Arial" panose="020B0604020202020204" pitchFamily="34" charset="0"/>
              <a:buChar char="•"/>
            </a:pPr>
            <a:r>
              <a:rPr lang="en-US" sz="2000" b="0" i="0" u="none" strike="noStrike" dirty="0">
                <a:solidFill>
                  <a:schemeClr val="tx1"/>
                </a:solidFill>
                <a:effectLst/>
                <a:latin typeface="Times New Roman" panose="02020603050405020304" pitchFamily="18" charset="0"/>
              </a:rPr>
              <a:t>The Resolution was moved by </a:t>
            </a:r>
            <a:r>
              <a:rPr lang="en-US" sz="2000" b="0" i="0" u="none" strike="noStrike" dirty="0" err="1">
                <a:solidFill>
                  <a:schemeClr val="tx1"/>
                </a:solidFill>
                <a:effectLst/>
                <a:latin typeface="Times New Roman" panose="02020603050405020304" pitchFamily="18" charset="0"/>
              </a:rPr>
              <a:t>Molvi</a:t>
            </a:r>
            <a:r>
              <a:rPr lang="en-US" sz="2000" b="0" i="0" u="none" strike="noStrike" dirty="0">
                <a:solidFill>
                  <a:schemeClr val="tx1"/>
                </a:solidFill>
                <a:effectLst/>
                <a:latin typeface="Times New Roman" panose="02020603050405020304" pitchFamily="18" charset="0"/>
              </a:rPr>
              <a:t> Fazal ul </a:t>
            </a:r>
            <a:r>
              <a:rPr lang="en-US" sz="2000" b="0" i="0" u="none" strike="noStrike" dirty="0" err="1">
                <a:solidFill>
                  <a:schemeClr val="tx1"/>
                </a:solidFill>
                <a:effectLst/>
                <a:latin typeface="Times New Roman" panose="02020603050405020304" pitchFamily="18" charset="0"/>
              </a:rPr>
              <a:t>Haq</a:t>
            </a:r>
            <a:r>
              <a:rPr lang="en-US" sz="2000" b="0" i="0" u="none" strike="noStrike" dirty="0">
                <a:solidFill>
                  <a:schemeClr val="tx1"/>
                </a:solidFill>
                <a:effectLst/>
                <a:latin typeface="Times New Roman" panose="02020603050405020304" pitchFamily="18" charset="0"/>
              </a:rPr>
              <a:t> Ch. Khaliq </a:t>
            </a:r>
            <a:r>
              <a:rPr lang="en-US" sz="2000" b="0" i="0" u="none" strike="noStrike" dirty="0" err="1">
                <a:solidFill>
                  <a:schemeClr val="tx1"/>
                </a:solidFill>
                <a:effectLst/>
                <a:latin typeface="Times New Roman" panose="02020603050405020304" pitchFamily="18" charset="0"/>
              </a:rPr>
              <a:t>uz</a:t>
            </a:r>
            <a:r>
              <a:rPr lang="en-US" sz="2000" b="0" i="0" u="none" strike="noStrike" dirty="0">
                <a:solidFill>
                  <a:schemeClr val="tx1"/>
                </a:solidFill>
                <a:effectLst/>
                <a:latin typeface="Times New Roman" panose="02020603050405020304" pitchFamily="18" charset="0"/>
              </a:rPr>
              <a:t> Zaman</a:t>
            </a:r>
            <a:endParaRPr lang="en-US" sz="2000" b="0" i="0" u="none" strike="noStrike" dirty="0">
              <a:solidFill>
                <a:schemeClr val="tx1"/>
              </a:solidFill>
              <a:effectLst/>
              <a:latin typeface="Courier New" panose="02070309020205020404" pitchFamily="49" charset="0"/>
            </a:endParaRPr>
          </a:p>
          <a:p>
            <a:pPr algn="just" rtl="0" fontAlgn="base">
              <a:spcBef>
                <a:spcPts val="1400"/>
              </a:spcBef>
              <a:spcAft>
                <a:spcPts val="0"/>
              </a:spcAft>
              <a:buFont typeface="Arial" panose="020B0604020202020204" pitchFamily="34" charset="0"/>
              <a:buChar char="•"/>
            </a:pPr>
            <a:r>
              <a:rPr lang="en-US" sz="2000" b="0" i="1" u="none" strike="noStrike" dirty="0">
                <a:solidFill>
                  <a:schemeClr val="tx1"/>
                </a:solidFill>
                <a:effectLst/>
                <a:latin typeface="Times New Roman" panose="02020603050405020304" pitchFamily="18" charset="0"/>
              </a:rPr>
              <a:t>No constitutional plan would be workable in this country or acceptable to Muslims unless it is designed on the following basic principles.</a:t>
            </a:r>
            <a:endParaRPr lang="en-US" sz="2000" b="0" i="1" u="none" strike="noStrike" dirty="0">
              <a:solidFill>
                <a:schemeClr val="tx1"/>
              </a:solidFill>
              <a:effectLst/>
              <a:latin typeface="Courier New" panose="02070309020205020404" pitchFamily="49" charset="0"/>
            </a:endParaRPr>
          </a:p>
          <a:p>
            <a:pPr algn="just" rtl="0" fontAlgn="base">
              <a:spcBef>
                <a:spcPts val="1400"/>
              </a:spcBef>
              <a:spcAft>
                <a:spcPts val="0"/>
              </a:spcAft>
              <a:buFont typeface="Arial" panose="020B0604020202020204" pitchFamily="34" charset="0"/>
              <a:buChar char="•"/>
            </a:pPr>
            <a:r>
              <a:rPr lang="en-US" sz="2000" b="0" i="0" u="none" strike="noStrike" dirty="0">
                <a:solidFill>
                  <a:schemeClr val="tx1"/>
                </a:solidFill>
                <a:effectLst/>
                <a:latin typeface="Times New Roman" panose="02020603050405020304" pitchFamily="18" charset="0"/>
              </a:rPr>
              <a:t>Controversies of the Lahore Resolution</a:t>
            </a:r>
            <a:endParaRPr lang="en-US" sz="2000" b="0" i="0" u="none" strike="noStrike" dirty="0">
              <a:solidFill>
                <a:schemeClr val="tx1"/>
              </a:solidFill>
              <a:effectLst/>
              <a:latin typeface="Courier New" panose="02070309020205020404" pitchFamily="49" charset="0"/>
            </a:endParaRPr>
          </a:p>
          <a:p>
            <a:pPr algn="just" rtl="0" fontAlgn="base">
              <a:spcBef>
                <a:spcPts val="1400"/>
              </a:spcBef>
              <a:spcAft>
                <a:spcPts val="0"/>
              </a:spcAft>
              <a:buFont typeface="Arial" panose="020B0604020202020204" pitchFamily="34" charset="0"/>
              <a:buChar char="•"/>
            </a:pPr>
            <a:r>
              <a:rPr lang="en-US" sz="2000" b="0" i="0" u="none" strike="noStrike" dirty="0">
                <a:solidFill>
                  <a:schemeClr val="tx1"/>
                </a:solidFill>
                <a:effectLst/>
                <a:latin typeface="Times New Roman" panose="02020603050405020304" pitchFamily="18" charset="0"/>
              </a:rPr>
              <a:t>Congress Reaction to the Resolution</a:t>
            </a:r>
            <a:endParaRPr lang="en-US" sz="2000" b="0" i="0" u="none" strike="noStrike" dirty="0">
              <a:solidFill>
                <a:schemeClr val="tx1"/>
              </a:solidFill>
              <a:effectLst/>
              <a:latin typeface="Courier New" panose="02070309020205020404" pitchFamily="49" charset="0"/>
            </a:endParaRPr>
          </a:p>
          <a:p>
            <a:pPr algn="just" rtl="0" fontAlgn="base">
              <a:spcBef>
                <a:spcPts val="1400"/>
              </a:spcBef>
              <a:spcAft>
                <a:spcPts val="0"/>
              </a:spcAft>
              <a:buFont typeface="Arial" panose="020B0604020202020204" pitchFamily="34" charset="0"/>
              <a:buChar char="•"/>
            </a:pPr>
            <a:r>
              <a:rPr lang="en-US" sz="2000" b="0" i="0" u="none" strike="noStrike" dirty="0">
                <a:solidFill>
                  <a:schemeClr val="tx1"/>
                </a:solidFill>
                <a:effectLst/>
                <a:latin typeface="Times New Roman" panose="02020603050405020304" pitchFamily="18" charset="0"/>
              </a:rPr>
              <a:t>Quaid-</a:t>
            </a:r>
            <a:r>
              <a:rPr lang="en-US" sz="2000" b="0" i="0" u="none" strike="noStrike" dirty="0" err="1">
                <a:solidFill>
                  <a:schemeClr val="tx1"/>
                </a:solidFill>
                <a:effectLst/>
                <a:latin typeface="Times New Roman" panose="02020603050405020304" pitchFamily="18" charset="0"/>
              </a:rPr>
              <a:t>i</a:t>
            </a:r>
            <a:r>
              <a:rPr lang="en-US" sz="2000" b="0" i="0" u="none" strike="noStrike" dirty="0">
                <a:solidFill>
                  <a:schemeClr val="tx1"/>
                </a:solidFill>
                <a:effectLst/>
                <a:latin typeface="Times New Roman" panose="02020603050405020304" pitchFamily="18" charset="0"/>
              </a:rPr>
              <a:t>-Azam Remarks</a:t>
            </a:r>
            <a:endParaRPr lang="en-US" sz="2000" b="0" i="0" u="none" strike="noStrike" dirty="0">
              <a:solidFill>
                <a:schemeClr val="tx1"/>
              </a:solidFill>
              <a:effectLst/>
              <a:latin typeface="Courier New" panose="02070309020205020404" pitchFamily="49" charset="0"/>
            </a:endParaRPr>
          </a:p>
          <a:p>
            <a:pPr algn="just" rtl="0" fontAlgn="base">
              <a:spcBef>
                <a:spcPts val="1400"/>
              </a:spcBef>
              <a:spcAft>
                <a:spcPts val="0"/>
              </a:spcAft>
              <a:buFont typeface="Arial" panose="020B0604020202020204" pitchFamily="34" charset="0"/>
              <a:buChar char="•"/>
            </a:pPr>
            <a:r>
              <a:rPr lang="en-US" sz="2000" b="0" i="0" u="none" strike="noStrike" dirty="0">
                <a:solidFill>
                  <a:schemeClr val="tx1"/>
                </a:solidFill>
                <a:effectLst/>
                <a:latin typeface="Times New Roman" panose="02020603050405020304" pitchFamily="18" charset="0"/>
              </a:rPr>
              <a:t>The Radcliff Award and the attitude of Mountbatten</a:t>
            </a:r>
            <a:endParaRPr lang="en-US" sz="2000" b="0" i="0" u="none" strike="noStrike" dirty="0">
              <a:solidFill>
                <a:schemeClr val="tx1"/>
              </a:solidFill>
              <a:effectLst/>
              <a:latin typeface="Courier New" panose="02070309020205020404" pitchFamily="49" charset="0"/>
            </a:endParaRPr>
          </a:p>
          <a:p>
            <a:pPr algn="just"/>
            <a:endParaRPr lang="en-US" sz="2000" dirty="0">
              <a:solidFill>
                <a:schemeClr val="tx1"/>
              </a:solidFill>
            </a:endParaRPr>
          </a:p>
        </p:txBody>
      </p:sp>
    </p:spTree>
    <p:extLst>
      <p:ext uri="{BB962C8B-B14F-4D97-AF65-F5344CB8AC3E}">
        <p14:creationId xmlns:p14="http://schemas.microsoft.com/office/powerpoint/2010/main" val="43418075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740</TotalTime>
  <Words>936</Words>
  <Application>Microsoft Office PowerPoint</Application>
  <PresentationFormat>Widescreen</PresentationFormat>
  <Paragraphs>69</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Courier New</vt:lpstr>
      <vt:lpstr>Garamond</vt:lpstr>
      <vt:lpstr>Times New Roman</vt:lpstr>
      <vt:lpstr>Organic</vt:lpstr>
      <vt:lpstr>Muslim Political Consciousness </vt:lpstr>
      <vt:lpstr>Impacts of the war of Independence </vt:lpstr>
      <vt:lpstr>Sir Syed Ahmad Khan and the Aligarh Movement</vt:lpstr>
      <vt:lpstr>Contributions of Sir Syed Ahmad Khan</vt:lpstr>
      <vt:lpstr>The Religious Institutions</vt:lpstr>
      <vt:lpstr>Muslim Political Development  1905-1947 </vt:lpstr>
      <vt:lpstr>Muslim Political Organization</vt:lpstr>
      <vt:lpstr>The Lucknow Pact 1916</vt:lpstr>
      <vt:lpstr>The Khilafat Movement 1919-1924:</vt:lpstr>
      <vt:lpstr>Allahabad Address</vt:lpstr>
      <vt:lpstr>Congress Ministries</vt:lpstr>
      <vt:lpstr>Congress Policies of Persecution</vt:lpstr>
      <vt:lpstr>Lahore Resolution 1940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Muslim Political Development 1905-1947 </dc:title>
  <dc:creator>Hafiz Computer CC</dc:creator>
  <cp:lastModifiedBy>Hafiz Computer CC</cp:lastModifiedBy>
  <cp:revision>15</cp:revision>
  <dcterms:created xsi:type="dcterms:W3CDTF">2021-10-25T21:00:26Z</dcterms:created>
  <dcterms:modified xsi:type="dcterms:W3CDTF">2022-09-13T08:13:33Z</dcterms:modified>
</cp:coreProperties>
</file>