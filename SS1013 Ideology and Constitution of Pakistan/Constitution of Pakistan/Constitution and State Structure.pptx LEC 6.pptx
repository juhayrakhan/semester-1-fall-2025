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7"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4540" y="1141730"/>
            <a:ext cx="8517890" cy="2368550"/>
          </a:xfrm>
        </p:spPr>
        <p:txBody>
          <a:bodyPr>
            <a:normAutofit fontScale="90000"/>
          </a:bodyPr>
          <a:lstStyle/>
          <a:p>
            <a:br>
              <a:rPr lang="en-US" altLang="en-US" b="1" dirty="0">
                <a:latin typeface="Times New Roman" panose="02020603050405020304" charset="0"/>
                <a:cs typeface="Times New Roman" panose="02020603050405020304" charset="0"/>
              </a:rPr>
            </a:br>
            <a:br>
              <a:rPr lang="en-US" altLang="en-US" b="1" dirty="0">
                <a:latin typeface="Times New Roman" panose="02020603050405020304" charset="0"/>
                <a:cs typeface="Times New Roman" panose="02020603050405020304" charset="0"/>
              </a:rPr>
            </a:br>
            <a:br>
              <a:rPr lang="en-US" altLang="en-US" b="1" dirty="0">
                <a:latin typeface="Times New Roman" panose="02020603050405020304" charset="0"/>
                <a:cs typeface="Times New Roman" panose="02020603050405020304" charset="0"/>
              </a:rPr>
            </a:br>
            <a:r>
              <a:rPr lang="en-US" altLang="en-US" b="1" dirty="0">
                <a:latin typeface="Times New Roman" panose="02020603050405020304" charset="0"/>
                <a:cs typeface="Times New Roman" panose="02020603050405020304" charset="0"/>
              </a:rPr>
              <a:t>Constitution and State Structure:</a:t>
            </a:r>
            <a:br>
              <a:rPr lang="en-US" altLang="en-US" b="1" dirty="0">
                <a:latin typeface="Times New Roman" panose="02020603050405020304" charset="0"/>
                <a:cs typeface="Times New Roman" panose="02020603050405020304" charset="0"/>
              </a:rPr>
            </a:br>
            <a:r>
              <a:rPr lang="en-US" altLang="en-US" b="1" dirty="0">
                <a:latin typeface="Times New Roman" panose="02020603050405020304" charset="0"/>
                <a:cs typeface="Times New Roman" panose="02020603050405020304" charset="0"/>
              </a:rPr>
              <a:t>Objective Resolution</a:t>
            </a:r>
            <a:br>
              <a:rPr lang="en-US" altLang="en-US" b="1" dirty="0">
                <a:latin typeface="Times New Roman" panose="02020603050405020304" charset="0"/>
                <a:cs typeface="Times New Roman" panose="02020603050405020304" charset="0"/>
              </a:rPr>
            </a:br>
            <a:r>
              <a:rPr lang="en-US" altLang="en-US" b="1" dirty="0">
                <a:latin typeface="Times New Roman" panose="02020603050405020304" charset="0"/>
                <a:cs typeface="Times New Roman" panose="02020603050405020304" charset="0"/>
              </a:rPr>
              <a:t> Constitution of 1956</a:t>
            </a:r>
            <a:endParaRPr lang="en-US" altLang="en-US" b="1"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1524000" y="3978275"/>
            <a:ext cx="9144000" cy="1279525"/>
          </a:xfrm>
        </p:spPr>
        <p:txBody>
          <a:bodyPr>
            <a:normAutofit lnSpcReduction="20000"/>
          </a:bodyPr>
          <a:lstStyle/>
          <a:p>
            <a:endParaRPr lang="en-US" b="1"/>
          </a:p>
          <a:p>
            <a:r>
              <a:rPr lang="en-US" b="1"/>
              <a:t>Ms. Tehmina Ejaz</a:t>
            </a:r>
            <a:endParaRPr lang="en-US" b="1"/>
          </a:p>
          <a:p>
            <a:r>
              <a:rPr lang="en-US" b="1"/>
              <a:t>Lecturer at Fast University</a:t>
            </a:r>
            <a:endParaRPr 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Introduction</a:t>
            </a:r>
            <a:endParaRPr lang="en-US" b="1"/>
          </a:p>
        </p:txBody>
      </p:sp>
      <p:sp>
        <p:nvSpPr>
          <p:cNvPr id="3" name="Content Placeholder 2"/>
          <p:cNvSpPr>
            <a:spLocks noGrp="1"/>
          </p:cNvSpPr>
          <p:nvPr>
            <p:ph idx="1"/>
          </p:nvPr>
        </p:nvSpPr>
        <p:spPr/>
        <p:txBody>
          <a:bodyPr/>
          <a:p>
            <a:r>
              <a:rPr lang="en-US" altLang="en-US">
                <a:latin typeface="Times New Roman" panose="02020603050405020304" charset="0"/>
                <a:cs typeface="Times New Roman" panose="02020603050405020304" charset="0"/>
              </a:rPr>
              <a:t>After gaining independence in 1947, Pakistan faced the critical task of establishing a constitutional framework to define its state structure and national identity. The Objective Resolution of 1949 served as the ideological foundation, emphasizing Islamic principles, democracy, and the rights of citizens. Building on this, the Constitution of 1956 marked Pakistan’s first attempt to implement a formal democratic system and establish itself as an Islamic Republic.</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Introduction</a:t>
            </a:r>
            <a:endParaRPr lang="en-US" b="1"/>
          </a:p>
        </p:txBody>
      </p:sp>
      <p:sp>
        <p:nvSpPr>
          <p:cNvPr id="3" name="Content Placeholder 2"/>
          <p:cNvSpPr>
            <a:spLocks noGrp="1"/>
          </p:cNvSpPr>
          <p:nvPr>
            <p:ph idx="1"/>
          </p:nvPr>
        </p:nvSpPr>
        <p:spPr/>
        <p:txBody>
          <a:bodyPr>
            <a:noAutofit/>
          </a:bodyPr>
          <a:p>
            <a:r>
              <a:rPr lang="en-US" altLang="en-US" sz="2000">
                <a:latin typeface="Times New Roman" panose="02020603050405020304" charset="0"/>
                <a:cs typeface="Times New Roman" panose="02020603050405020304" charset="0"/>
              </a:rPr>
              <a:t>Every country requires a constitutional framework for governance.</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Pakistan’s constitutional development began after independence in 1947.</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Two crucial milestones in early state-building:</a:t>
            </a:r>
            <a:endParaRPr lang="en-US" altLang="en-US" sz="2000" b="1">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The Objective Resolution (1949)</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The Constitution of 1956</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These documents shaped the political and ideological direction of Pakistan.</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Objective Resolution – Background</a:t>
            </a:r>
            <a:endParaRPr lang="en-US" altLang="en-US" b="1"/>
          </a:p>
        </p:txBody>
      </p:sp>
      <p:sp>
        <p:nvSpPr>
          <p:cNvPr id="3" name="Content Placeholder 2"/>
          <p:cNvSpPr>
            <a:spLocks noGrp="1"/>
          </p:cNvSpPr>
          <p:nvPr>
            <p:ph idx="1"/>
          </p:nvPr>
        </p:nvSpPr>
        <p:spPr/>
        <p:txBody>
          <a:bodyPr/>
          <a:p>
            <a:r>
              <a:rPr lang="en-US" altLang="en-US"/>
              <a:t>Presented by Liaquat Ali Khan on March 7, 1949</a:t>
            </a:r>
            <a:endParaRPr lang="en-US" altLang="en-US"/>
          </a:p>
          <a:p>
            <a:endParaRPr lang="en-US" altLang="en-US"/>
          </a:p>
          <a:p>
            <a:r>
              <a:rPr lang="en-US" altLang="en-US"/>
              <a:t>Passed by Constituent Assembly of Pakistan</a:t>
            </a:r>
            <a:endParaRPr lang="en-US" altLang="en-US"/>
          </a:p>
          <a:p>
            <a:endParaRPr lang="en-US" altLang="en-US"/>
          </a:p>
          <a:p>
            <a:r>
              <a:rPr lang="en-US" altLang="en-US"/>
              <a:t>Laid foundation for Pakistan’s constitutional and ideological framework</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Key Features of Objective Resolution</a:t>
            </a:r>
            <a:endParaRPr lang="en-US" altLang="en-US" b="1"/>
          </a:p>
        </p:txBody>
      </p:sp>
      <p:sp>
        <p:nvSpPr>
          <p:cNvPr id="3" name="Content Placeholder 2"/>
          <p:cNvSpPr>
            <a:spLocks noGrp="1"/>
          </p:cNvSpPr>
          <p:nvPr>
            <p:ph idx="1"/>
          </p:nvPr>
        </p:nvSpPr>
        <p:spPr>
          <a:xfrm>
            <a:off x="163830" y="1767205"/>
            <a:ext cx="9019540" cy="4410075"/>
          </a:xfrm>
        </p:spPr>
        <p:txBody>
          <a:bodyPr>
            <a:noAutofit/>
          </a:bodyPr>
          <a:p>
            <a:r>
              <a:rPr lang="en-US" altLang="en-US" sz="2000">
                <a:latin typeface="Times New Roman" panose="02020603050405020304" charset="0"/>
                <a:cs typeface="Times New Roman" panose="02020603050405020304" charset="0"/>
              </a:rPr>
              <a:t>Sovereignty belongs to Allah Almighty</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Authority to be exercised by people through chosen representatives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Principles of democracy, freedom, equality, tolerance, and social justice</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Protection of minorities’ rights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Independence of judiciary</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Ensuring Islamic principles in governance</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Significance of Objective Resolution</a:t>
            </a:r>
            <a:endParaRPr lang="en-US" altLang="en-US" b="1"/>
          </a:p>
        </p:txBody>
      </p:sp>
      <p:sp>
        <p:nvSpPr>
          <p:cNvPr id="3" name="Content Placeholder 2"/>
          <p:cNvSpPr>
            <a:spLocks noGrp="1"/>
          </p:cNvSpPr>
          <p:nvPr>
            <p:ph idx="1"/>
          </p:nvPr>
        </p:nvSpPr>
        <p:spPr/>
        <p:txBody>
          <a:bodyPr/>
          <a:p>
            <a:r>
              <a:rPr lang="en-US" altLang="en-US"/>
              <a:t>Became preamble of all Pakistani constitutions</a:t>
            </a:r>
            <a:endParaRPr lang="en-US" altLang="en-US"/>
          </a:p>
          <a:p>
            <a:endParaRPr lang="en-US" altLang="en-US"/>
          </a:p>
          <a:p>
            <a:r>
              <a:rPr lang="en-US" altLang="en-US"/>
              <a:t>Reflected the Islamic ideology of Pakistan</a:t>
            </a:r>
            <a:endParaRPr lang="en-US" altLang="en-US"/>
          </a:p>
          <a:p>
            <a:endParaRPr lang="en-US" altLang="en-US"/>
          </a:p>
          <a:p>
            <a:r>
              <a:rPr lang="en-US" altLang="en-US"/>
              <a:t>Basis for Islamization of laws and governance</a:t>
            </a:r>
            <a:endParaRPr lang="en-US" altLang="en-US"/>
          </a:p>
          <a:p>
            <a:endParaRPr lang="en-US" altLang="en-US"/>
          </a:p>
          <a:p>
            <a:r>
              <a:rPr lang="en-US" altLang="en-US"/>
              <a:t>Foundation for future constitutional development</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 Constitution of 1956 – Background</a:t>
            </a:r>
            <a:endParaRPr lang="en-US" altLang="en-US" b="1"/>
          </a:p>
        </p:txBody>
      </p:sp>
      <p:sp>
        <p:nvSpPr>
          <p:cNvPr id="3" name="Content Placeholder 2"/>
          <p:cNvSpPr>
            <a:spLocks noGrp="1"/>
          </p:cNvSpPr>
          <p:nvPr>
            <p:ph idx="1"/>
          </p:nvPr>
        </p:nvSpPr>
        <p:spPr/>
        <p:txBody>
          <a:bodyPr/>
          <a:p>
            <a:r>
              <a:rPr lang="en-US" altLang="en-US"/>
              <a:t>First constitution of Pakistan</a:t>
            </a:r>
            <a:endParaRPr lang="en-US" altLang="en-US"/>
          </a:p>
          <a:p>
            <a:endParaRPr lang="en-US" altLang="en-US"/>
          </a:p>
          <a:p>
            <a:r>
              <a:rPr lang="en-US" altLang="en-US"/>
              <a:t>Adopted on 23rd March 1956</a:t>
            </a:r>
            <a:endParaRPr lang="en-US" altLang="en-US"/>
          </a:p>
          <a:p>
            <a:endParaRPr lang="en-US" altLang="en-US"/>
          </a:p>
          <a:p>
            <a:r>
              <a:rPr lang="en-US" altLang="en-US"/>
              <a:t>Replaced Government of India Act 1935</a:t>
            </a:r>
            <a:endParaRPr lang="en-US" altLang="en-US"/>
          </a:p>
          <a:p>
            <a:endParaRPr lang="en-US" altLang="en-US"/>
          </a:p>
          <a:p>
            <a:r>
              <a:rPr lang="en-US" altLang="en-US"/>
              <a:t>Marked the transition from a dominion to an Islamic Republic</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Salient Features of Constitution 1956</a:t>
            </a:r>
            <a:endParaRPr lang="en-US" altLang="en-US" b="1"/>
          </a:p>
        </p:txBody>
      </p:sp>
      <p:sp>
        <p:nvSpPr>
          <p:cNvPr id="3" name="Content Placeholder 2"/>
          <p:cNvSpPr>
            <a:spLocks noGrp="1"/>
          </p:cNvSpPr>
          <p:nvPr>
            <p:ph idx="1"/>
          </p:nvPr>
        </p:nvSpPr>
        <p:spPr/>
        <p:txBody>
          <a:bodyPr>
            <a:normAutofit fontScale="60000"/>
          </a:bodyPr>
          <a:p>
            <a:r>
              <a:rPr lang="en-US" altLang="en-US"/>
              <a:t>Islamic Republic of Pakistan</a:t>
            </a:r>
            <a:endParaRPr lang="en-US" altLang="en-US"/>
          </a:p>
          <a:p>
            <a:endParaRPr lang="en-US" altLang="en-US"/>
          </a:p>
          <a:p>
            <a:r>
              <a:rPr lang="en-US" altLang="en-US"/>
              <a:t>Parliamentary form of government</a:t>
            </a:r>
            <a:endParaRPr lang="en-US" altLang="en-US"/>
          </a:p>
          <a:p>
            <a:endParaRPr lang="en-US" altLang="en-US"/>
          </a:p>
          <a:p>
            <a:r>
              <a:rPr lang="en-US" altLang="en-US"/>
              <a:t>Unicameral legislature (one-house)</a:t>
            </a:r>
            <a:endParaRPr lang="en-US" altLang="en-US"/>
          </a:p>
          <a:p>
            <a:endParaRPr lang="en-US" altLang="en-US"/>
          </a:p>
          <a:p>
            <a:r>
              <a:rPr lang="en-US" altLang="en-US"/>
              <a:t>President as head of state, Prime Minister as head of government</a:t>
            </a:r>
            <a:endParaRPr lang="en-US" altLang="en-US"/>
          </a:p>
          <a:p>
            <a:endParaRPr lang="en-US" altLang="en-US"/>
          </a:p>
          <a:p>
            <a:r>
              <a:rPr lang="en-US" altLang="en-US"/>
              <a:t>Fundamental rights guaranteed</a:t>
            </a:r>
            <a:endParaRPr lang="en-US" altLang="en-US"/>
          </a:p>
          <a:p>
            <a:endParaRPr lang="en-US" altLang="en-US"/>
          </a:p>
          <a:p>
            <a:r>
              <a:rPr lang="en-US" altLang="en-US"/>
              <a:t>Based on Objective Resolution</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Islamic Provisions</a:t>
            </a:r>
            <a:endParaRPr lang="en-US" altLang="en-US" b="1"/>
          </a:p>
        </p:txBody>
      </p:sp>
      <p:sp>
        <p:nvSpPr>
          <p:cNvPr id="3" name="Content Placeholder 2"/>
          <p:cNvSpPr>
            <a:spLocks noGrp="1"/>
          </p:cNvSpPr>
          <p:nvPr>
            <p:ph idx="1"/>
          </p:nvPr>
        </p:nvSpPr>
        <p:spPr/>
        <p:txBody>
          <a:bodyPr/>
          <a:p>
            <a:r>
              <a:rPr lang="en-US" altLang="en-US"/>
              <a:t>Pakistan declared an Islamic state</a:t>
            </a:r>
            <a:endParaRPr lang="en-US" altLang="en-US"/>
          </a:p>
          <a:p>
            <a:endParaRPr lang="en-US" altLang="en-US"/>
          </a:p>
          <a:p>
            <a:r>
              <a:rPr lang="en-US" altLang="en-US"/>
              <a:t>President must be a Muslim</a:t>
            </a:r>
            <a:endParaRPr lang="en-US" altLang="en-US"/>
          </a:p>
          <a:p>
            <a:endParaRPr lang="en-US" altLang="en-US"/>
          </a:p>
          <a:p>
            <a:r>
              <a:rPr lang="en-US" altLang="en-US"/>
              <a:t>No law to be enacted against Quran and Sunnah</a:t>
            </a:r>
            <a:endParaRPr lang="en-US" altLang="en-US"/>
          </a:p>
          <a:p>
            <a:endParaRPr lang="en-US" altLang="en-US"/>
          </a:p>
          <a:p>
            <a:r>
              <a:rPr lang="en-US" altLang="en-US"/>
              <a:t>Promotion of Islamic values and education</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Federal Structure</a:t>
            </a:r>
            <a:endParaRPr lang="en-US" altLang="en-US" b="1"/>
          </a:p>
        </p:txBody>
      </p:sp>
      <p:sp>
        <p:nvSpPr>
          <p:cNvPr id="3" name="Content Placeholder 2"/>
          <p:cNvSpPr>
            <a:spLocks noGrp="1"/>
          </p:cNvSpPr>
          <p:nvPr>
            <p:ph idx="1"/>
          </p:nvPr>
        </p:nvSpPr>
        <p:spPr/>
        <p:txBody>
          <a:bodyPr/>
          <a:p>
            <a:r>
              <a:rPr lang="en-US" altLang="en-US"/>
              <a:t>Two wings: East Pakistan and West Pakistan</a:t>
            </a:r>
            <a:endParaRPr lang="en-US" altLang="en-US"/>
          </a:p>
          <a:p>
            <a:endParaRPr lang="en-US" altLang="en-US"/>
          </a:p>
          <a:p>
            <a:r>
              <a:rPr lang="en-US" altLang="en-US"/>
              <a:t>Equal representation despite population difference</a:t>
            </a:r>
            <a:endParaRPr lang="en-US" altLang="en-US"/>
          </a:p>
          <a:p>
            <a:endParaRPr lang="en-US" altLang="en-US"/>
          </a:p>
          <a:p>
            <a:r>
              <a:rPr lang="en-US" altLang="en-US"/>
              <a:t>Federal system with division of powers</a:t>
            </a:r>
            <a:endParaRPr lang="en-US" altLang="en-US"/>
          </a:p>
          <a:p>
            <a:endParaRPr lang="en-US" altLang="en-US"/>
          </a:p>
          <a:p>
            <a:r>
              <a:rPr lang="en-US" altLang="en-US"/>
              <a:t>Issues with parity principle</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Criticism</a:t>
            </a:r>
            <a:endParaRPr lang="en-US" b="1"/>
          </a:p>
        </p:txBody>
      </p:sp>
      <p:sp>
        <p:nvSpPr>
          <p:cNvPr id="3" name="Content Placeholder 2"/>
          <p:cNvSpPr>
            <a:spLocks noGrp="1"/>
          </p:cNvSpPr>
          <p:nvPr>
            <p:ph idx="1"/>
          </p:nvPr>
        </p:nvSpPr>
        <p:spPr/>
        <p:txBody>
          <a:bodyPr/>
          <a:p>
            <a:r>
              <a:rPr lang="en-US" altLang="en-US"/>
              <a:t>Delay in constitution-making (9 years)</a:t>
            </a:r>
            <a:endParaRPr lang="en-US" altLang="en-US"/>
          </a:p>
          <a:p>
            <a:endParaRPr lang="en-US" altLang="en-US"/>
          </a:p>
          <a:p>
            <a:r>
              <a:rPr lang="en-US" altLang="en-US"/>
              <a:t>Unequal power sharing (East vs. West Pakistan)</a:t>
            </a:r>
            <a:endParaRPr lang="en-US" altLang="en-US"/>
          </a:p>
          <a:p>
            <a:endParaRPr lang="en-US" altLang="en-US"/>
          </a:p>
          <a:p>
            <a:r>
              <a:rPr lang="en-US" altLang="en-US"/>
              <a:t>Political instability and frequent changes in government</a:t>
            </a:r>
            <a:endParaRPr lang="en-US" altLang="en-US"/>
          </a:p>
          <a:p>
            <a:endParaRPr lang="en-US" altLang="en-US"/>
          </a:p>
          <a:p>
            <a:r>
              <a:rPr lang="en-US" altLang="en-US"/>
              <a:t>Abrogated by Iskander Mirza in 1958</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Conclusion</a:t>
            </a:r>
            <a:endParaRPr lang="en-US" b="1"/>
          </a:p>
        </p:txBody>
      </p:sp>
      <p:sp>
        <p:nvSpPr>
          <p:cNvPr id="3" name="Content Placeholder 2"/>
          <p:cNvSpPr>
            <a:spLocks noGrp="1"/>
          </p:cNvSpPr>
          <p:nvPr>
            <p:ph idx="1"/>
          </p:nvPr>
        </p:nvSpPr>
        <p:spPr/>
        <p:txBody>
          <a:bodyPr/>
          <a:p>
            <a:r>
              <a:rPr lang="en-US" altLang="en-US"/>
              <a:t>In a nutshell it is concluded that the Objective Resolution provided the ideological basis for Pakistan’s constitutional journey, while the 1956 Constitution represented its first practical step toward democratic governance. Though the constitution was short-lived, it played a key role in shaping the country's political and legal direction. These developments offer important lessons in balancing ideology with democratic principles and highlight the need for unity and stability in constitutional development.</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3130</Words>
  <Application>WPS Presentation</Application>
  <PresentationFormat>Widescreen</PresentationFormat>
  <Paragraphs>105</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Calibri Light</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Researcher Qau</cp:lastModifiedBy>
  <cp:revision>8</cp:revision>
  <dcterms:created xsi:type="dcterms:W3CDTF">2025-07-23T00:59:00Z</dcterms:created>
  <dcterms:modified xsi:type="dcterms:W3CDTF">2025-09-24T19:54:07Z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FE56F92874B3493BB9E4A0E61A6B9CC2_11</vt:lpwstr>
  </property>
  <property fmtid="{D5CDD505-2E9C-101B-9397-08002B2CF9AE}" pid="3" name="KSOProductBuildVer">
    <vt:lpwstr>1033-12.2.0.22555</vt:lpwstr>
  </property>
</Properties>
</file>