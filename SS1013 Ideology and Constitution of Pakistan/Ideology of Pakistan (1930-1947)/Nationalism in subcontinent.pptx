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4" r:id="rId4"/>
    <p:sldId id="257" r:id="rId5"/>
    <p:sldId id="258" r:id="rId6"/>
    <p:sldId id="259" r:id="rId7"/>
    <p:sldId id="260" r:id="rId8"/>
    <p:sldId id="261" r:id="rId9"/>
    <p:sldId id="262" r:id="rId10"/>
    <p:sldId id="263" r:id="rId11"/>
    <p:sldId id="265" r:id="rId12"/>
    <p:sldId id="269"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en-US" sz="4400" dirty="0">
                <a:latin typeface="Times New Roman" panose="02020603050405020304" charset="0"/>
                <a:cs typeface="Times New Roman" panose="02020603050405020304" charset="0"/>
              </a:rPr>
              <a:t>Nationalism in subcontinent</a:t>
            </a:r>
            <a:br>
              <a:rPr lang="en-US" altLang="en-US" sz="4400" dirty="0">
                <a:latin typeface="Times New Roman" panose="02020603050405020304" charset="0"/>
                <a:cs typeface="Times New Roman" panose="02020603050405020304" charset="0"/>
              </a:rPr>
            </a:br>
            <a:r>
              <a:rPr lang="en-US" altLang="en-US" sz="4400" dirty="0">
                <a:latin typeface="Times New Roman" panose="02020603050405020304" charset="0"/>
                <a:cs typeface="Times New Roman" panose="02020603050405020304" charset="0"/>
              </a:rPr>
              <a:t>The ideology of Pakistan</a:t>
            </a:r>
            <a:br>
              <a:rPr lang="en-US" altLang="en-US" sz="4400" dirty="0">
                <a:latin typeface="Times New Roman" panose="02020603050405020304" charset="0"/>
                <a:cs typeface="Times New Roman" panose="02020603050405020304" charset="0"/>
              </a:rPr>
            </a:br>
            <a:endParaRPr lang="en-US" altLang="en-US" sz="4400" dirty="0">
              <a:latin typeface="Times New Roman" panose="02020603050405020304" charset="0"/>
              <a:cs typeface="Times New Roman" panose="02020603050405020304" charset="0"/>
            </a:endParaRPr>
          </a:p>
        </p:txBody>
      </p:sp>
      <p:sp>
        <p:nvSpPr>
          <p:cNvPr id="3" name="Subtitle 2"/>
          <p:cNvSpPr>
            <a:spLocks noGrp="1"/>
          </p:cNvSpPr>
          <p:nvPr>
            <p:ph type="subTitle" idx="1"/>
          </p:nvPr>
        </p:nvSpPr>
        <p:spPr/>
        <p:txBody>
          <a:bodyPr/>
          <a:lstStyle/>
          <a:p>
            <a:r>
              <a:rPr lang="en-US"/>
              <a:t>Ms. Tehmina Ejaz</a:t>
            </a:r>
            <a:endParaRPr lang="en-US"/>
          </a:p>
          <a:p>
            <a:r>
              <a:rPr lang="en-US"/>
              <a:t>Lecturer at Fast University</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33755"/>
          </a:xfrm>
        </p:spPr>
        <p:txBody>
          <a:bodyPr>
            <a:normAutofit fontScale="90000"/>
          </a:bodyPr>
          <a:p>
            <a:r>
              <a:rPr lang="en-US" altLang="en-US" b="1"/>
              <a:t>Introduction – Understanding Muslim Nationalism</a:t>
            </a:r>
            <a:endParaRPr lang="en-US" altLang="en-US" b="1"/>
          </a:p>
        </p:txBody>
      </p:sp>
      <p:sp>
        <p:nvSpPr>
          <p:cNvPr id="3" name="Content Placeholder 2"/>
          <p:cNvSpPr>
            <a:spLocks noGrp="1"/>
          </p:cNvSpPr>
          <p:nvPr>
            <p:ph idx="1"/>
          </p:nvPr>
        </p:nvSpPr>
        <p:spPr>
          <a:xfrm>
            <a:off x="86360" y="1439545"/>
            <a:ext cx="11836400" cy="4737735"/>
          </a:xfrm>
        </p:spPr>
        <p:txBody>
          <a:bodyPr>
            <a:noAutofit/>
          </a:bodyPr>
          <a:p>
            <a:r>
              <a:rPr lang="en-US" altLang="en-US" sz="2400" b="1">
                <a:latin typeface="Times New Roman" panose="02020603050405020304" charset="0"/>
                <a:cs typeface="Times New Roman" panose="02020603050405020304" charset="0"/>
              </a:rPr>
              <a:t>Definition of Nationalism</a:t>
            </a:r>
            <a:r>
              <a:rPr lang="en-US" altLang="en-US" sz="2400">
                <a:latin typeface="Times New Roman" panose="02020603050405020304" charset="0"/>
                <a:cs typeface="Times New Roman" panose="02020603050405020304" charset="0"/>
              </a:rPr>
              <a:t>:</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A political ideology centered around the interests, culture, language, and identity of a specific nation or group.</a:t>
            </a:r>
            <a:endParaRPr lang="en-US" altLang="en-US" sz="2400">
              <a:latin typeface="Times New Roman" panose="02020603050405020304" charset="0"/>
              <a:cs typeface="Times New Roman" panose="02020603050405020304" charset="0"/>
            </a:endParaRPr>
          </a:p>
          <a:p>
            <a:r>
              <a:rPr lang="en-US" altLang="en-US" sz="2400" b="1">
                <a:latin typeface="Times New Roman" panose="02020603050405020304" charset="0"/>
                <a:cs typeface="Times New Roman" panose="02020603050405020304" charset="0"/>
              </a:rPr>
              <a:t>Muslim Nationalism</a:t>
            </a:r>
            <a:r>
              <a:rPr lang="en-US" altLang="en-US" sz="2400">
                <a:latin typeface="Times New Roman" panose="02020603050405020304" charset="0"/>
                <a:cs typeface="Times New Roman" panose="02020603050405020304" charset="0"/>
              </a:rPr>
              <a:t>:</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The idea that Muslims in the Indian Subcontinent are a distinct nation due to their unique religion, culture, and historical legacy.</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Emerged as a response to the dominance of Hindu majority and British colonial policies.</a:t>
            </a:r>
            <a:endParaRPr lang="en-US" altLang="en-US" sz="3500">
              <a:latin typeface="Times New Roman" panose="02020603050405020304" charset="0"/>
              <a:cs typeface="Times New Roman" panose="02020603050405020304" charset="0"/>
            </a:endParaRPr>
          </a:p>
          <a:p>
            <a:r>
              <a:rPr lang="en-US" altLang="en-US" b="1">
                <a:latin typeface="Times New Roman" panose="02020603050405020304" charset="0"/>
                <a:cs typeface="Times New Roman" panose="02020603050405020304" charset="0"/>
              </a:rPr>
              <a:t>Importance:</a:t>
            </a:r>
            <a:endParaRPr lang="en-US" altLang="en-US" b="1">
              <a:latin typeface="Times New Roman" panose="02020603050405020304" charset="0"/>
              <a:cs typeface="Times New Roman" panose="02020603050405020304" charset="0"/>
            </a:endParaRPr>
          </a:p>
          <a:p>
            <a:r>
              <a:rPr lang="en-US" altLang="en-US" sz="2800">
                <a:latin typeface="Times New Roman" panose="02020603050405020304" charset="0"/>
                <a:cs typeface="Times New Roman" panose="02020603050405020304" charset="0"/>
              </a:rPr>
              <a:t>Played a pivotal role in the creation of Pakistan in 1947.</a:t>
            </a:r>
            <a:endParaRPr lang="en-US" altLang="en-US" sz="2800">
              <a:latin typeface="Times New Roman" panose="02020603050405020304" charset="0"/>
              <a:cs typeface="Times New Roman" panose="02020603050405020304" charset="0"/>
            </a:endParaRPr>
          </a:p>
          <a:p>
            <a:r>
              <a:rPr lang="en-US" altLang="en-US" sz="2800">
                <a:latin typeface="Times New Roman" panose="02020603050405020304" charset="0"/>
                <a:cs typeface="Times New Roman" panose="02020603050405020304" charset="0"/>
              </a:rPr>
              <a:t>Influenced political thought, identity, and state formation in South Asia.</a:t>
            </a:r>
            <a:endParaRPr lang="en-US" altLang="en-US" sz="28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1.</a:t>
            </a:r>
            <a:r>
              <a:rPr lang="en-US" altLang="en-US" b="1"/>
              <a:t> Background: 1857 and the Decline of Muslim Power</a:t>
            </a:r>
            <a:endParaRPr lang="en-US" altLang="en-US" b="1"/>
          </a:p>
        </p:txBody>
      </p:sp>
      <p:sp>
        <p:nvSpPr>
          <p:cNvPr id="3" name="Content Placeholder 2"/>
          <p:cNvSpPr>
            <a:spLocks noGrp="1"/>
          </p:cNvSpPr>
          <p:nvPr>
            <p:ph idx="1"/>
          </p:nvPr>
        </p:nvSpPr>
        <p:spPr/>
        <p:txBody>
          <a:bodyPr>
            <a:normAutofit fontScale="70000"/>
          </a:bodyPr>
          <a:p>
            <a:r>
              <a:rPr lang="en-US" altLang="en-US"/>
              <a:t>The 1857 War of Independence marked a sharp decline for Muslims in India. The British blamed them for initiating the revolt, especially due to the symbolic leadership of the last Mughal emperor, Bahadur Shah Zafar. After the failure of the rebellion, Muslims faced:</a:t>
            </a:r>
            <a:endParaRPr lang="en-US" altLang="en-US"/>
          </a:p>
          <a:p>
            <a:endParaRPr lang="en-US" altLang="en-US"/>
          </a:p>
          <a:p>
            <a:r>
              <a:rPr lang="en-US" altLang="en-US"/>
              <a:t>Loss of political influence</a:t>
            </a:r>
            <a:endParaRPr lang="en-US" altLang="en-US"/>
          </a:p>
          <a:p>
            <a:endParaRPr lang="en-US" altLang="en-US"/>
          </a:p>
          <a:p>
            <a:r>
              <a:rPr lang="en-US" altLang="en-US"/>
              <a:t>Targeted repression by the British</a:t>
            </a:r>
            <a:endParaRPr lang="en-US" altLang="en-US"/>
          </a:p>
          <a:p>
            <a:endParaRPr lang="en-US" altLang="en-US"/>
          </a:p>
          <a:p>
            <a:r>
              <a:rPr lang="en-US" altLang="en-US"/>
              <a:t>Economic decline and exclusion from civil services</a:t>
            </a:r>
            <a:endParaRPr lang="en-US" altLang="en-US"/>
          </a:p>
          <a:p>
            <a:endParaRPr lang="en-US" altLang="en-US"/>
          </a:p>
          <a:p>
            <a:r>
              <a:rPr lang="en-US" altLang="en-US"/>
              <a:t>This led to a growing sense of marginalization and identity crisis among Indian Muslims</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b="1"/>
              <a:t>Rise of Muslim Nationalism through the Aligarh Movement</a:t>
            </a:r>
            <a:endParaRPr lang="en-US" altLang="en-US" b="1"/>
          </a:p>
        </p:txBody>
      </p:sp>
      <p:sp>
        <p:nvSpPr>
          <p:cNvPr id="3" name="Content Placeholder 2"/>
          <p:cNvSpPr>
            <a:spLocks noGrp="1"/>
          </p:cNvSpPr>
          <p:nvPr>
            <p:ph idx="1"/>
          </p:nvPr>
        </p:nvSpPr>
        <p:spPr>
          <a:xfrm>
            <a:off x="202565" y="1825625"/>
            <a:ext cx="11151235" cy="4351655"/>
          </a:xfrm>
        </p:spPr>
        <p:txBody>
          <a:bodyPr>
            <a:noAutofit/>
          </a:bodyPr>
          <a:p>
            <a:r>
              <a:rPr lang="en-US" altLang="en-US" sz="2700">
                <a:latin typeface="Times New Roman" panose="02020603050405020304" charset="0"/>
                <a:cs typeface="Times New Roman" panose="02020603050405020304" charset="0"/>
              </a:rPr>
              <a:t>Sir Syed Ahmad Khan responded to the post-1857 Muslim decline by launching the Aligarh Movement, aiming to modernize Muslim society through:</a:t>
            </a:r>
            <a:endParaRPr lang="en-US" altLang="en-US" sz="2700">
              <a:latin typeface="Times New Roman" panose="02020603050405020304" charset="0"/>
              <a:cs typeface="Times New Roman" panose="02020603050405020304" charset="0"/>
            </a:endParaRPr>
          </a:p>
          <a:p>
            <a:r>
              <a:rPr lang="en-US" altLang="en-US" sz="2700">
                <a:latin typeface="Times New Roman" panose="02020603050405020304" charset="0"/>
                <a:cs typeface="Times New Roman" panose="02020603050405020304" charset="0"/>
              </a:rPr>
              <a:t>Modern education: Founded the Muhammadan Anglo-Oriental College (1875) → later became Aligarh Muslim University (1920)</a:t>
            </a:r>
            <a:endParaRPr lang="en-US" altLang="en-US" sz="2700">
              <a:latin typeface="Times New Roman" panose="02020603050405020304" charset="0"/>
              <a:cs typeface="Times New Roman" panose="02020603050405020304" charset="0"/>
            </a:endParaRPr>
          </a:p>
          <a:p>
            <a:r>
              <a:rPr lang="en-US" altLang="en-US" sz="2700">
                <a:latin typeface="Times New Roman" panose="02020603050405020304" charset="0"/>
                <a:cs typeface="Times New Roman" panose="02020603050405020304" charset="0"/>
              </a:rPr>
              <a:t>Promoting Urdu language and reformist ideas</a:t>
            </a:r>
            <a:endParaRPr lang="en-US" altLang="en-US" sz="2700">
              <a:latin typeface="Times New Roman" panose="02020603050405020304" charset="0"/>
              <a:cs typeface="Times New Roman" panose="02020603050405020304" charset="0"/>
            </a:endParaRPr>
          </a:p>
          <a:p>
            <a:r>
              <a:rPr lang="en-US" altLang="en-US" sz="2700">
                <a:latin typeface="Times New Roman" panose="02020603050405020304" charset="0"/>
                <a:cs typeface="Times New Roman" panose="02020603050405020304" charset="0"/>
              </a:rPr>
              <a:t>Encouraging loyalty to the British to secure Muslim interests</a:t>
            </a:r>
            <a:endParaRPr lang="en-US" altLang="en-US" sz="2700">
              <a:latin typeface="Times New Roman" panose="02020603050405020304" charset="0"/>
              <a:cs typeface="Times New Roman" panose="02020603050405020304" charset="0"/>
            </a:endParaRPr>
          </a:p>
          <a:p>
            <a:r>
              <a:rPr lang="en-US" altLang="en-US" sz="2700">
                <a:latin typeface="Times New Roman" panose="02020603050405020304" charset="0"/>
                <a:cs typeface="Times New Roman" panose="02020603050405020304" charset="0"/>
              </a:rPr>
              <a:t>Advocating for political separatism from Indian National Congress</a:t>
            </a:r>
            <a:endParaRPr lang="en-US" altLang="en-US" sz="2700">
              <a:latin typeface="Times New Roman" panose="02020603050405020304" charset="0"/>
              <a:cs typeface="Times New Roman" panose="02020603050405020304" charset="0"/>
            </a:endParaRPr>
          </a:p>
          <a:p>
            <a:r>
              <a:rPr lang="en-US" altLang="en-US" sz="2700">
                <a:latin typeface="Times New Roman" panose="02020603050405020304" charset="0"/>
                <a:cs typeface="Times New Roman" panose="02020603050405020304" charset="0"/>
              </a:rPr>
              <a:t>The movement laid the foundation for Muslim political identity and gave rise to a new educated Muslim middle class.</a:t>
            </a:r>
            <a:endParaRPr lang="en-US" altLang="en-US" sz="27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b="1"/>
              <a:t>Formation of the All-India Muslim League (1906)</a:t>
            </a:r>
            <a:endParaRPr lang="en-US" altLang="en-US" b="1"/>
          </a:p>
        </p:txBody>
      </p:sp>
      <p:sp>
        <p:nvSpPr>
          <p:cNvPr id="3" name="Content Placeholder 2"/>
          <p:cNvSpPr>
            <a:spLocks noGrp="1"/>
          </p:cNvSpPr>
          <p:nvPr>
            <p:ph idx="1"/>
          </p:nvPr>
        </p:nvSpPr>
        <p:spPr/>
        <p:txBody>
          <a:bodyPr/>
          <a:p>
            <a:r>
              <a:rPr lang="en-US" altLang="en-US">
                <a:latin typeface="Times New Roman" panose="02020603050405020304" charset="0"/>
                <a:cs typeface="Times New Roman" panose="02020603050405020304" charset="0"/>
              </a:rPr>
              <a:t>Created in Dhaka to safeguard Muslim political rights</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Emerged from the intellectual environment of Aligarh and Muslim Educational Conferences</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Pushed for separate electorates and representation for Muslims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Became the primary political platform for Muslim nationalism</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b="1"/>
              <a:t>Key Ideologies: Allama Iqbal &amp; Muhammad Ali Jinnah</a:t>
            </a:r>
            <a:endParaRPr lang="en-US" altLang="en-US" b="1"/>
          </a:p>
        </p:txBody>
      </p:sp>
      <p:sp>
        <p:nvSpPr>
          <p:cNvPr id="3" name="Content Placeholder 2"/>
          <p:cNvSpPr>
            <a:spLocks noGrp="1"/>
          </p:cNvSpPr>
          <p:nvPr>
            <p:ph idx="1"/>
          </p:nvPr>
        </p:nvSpPr>
        <p:spPr/>
        <p:txBody>
          <a:bodyPr>
            <a:normAutofit lnSpcReduction="10000"/>
          </a:bodyPr>
          <a:p>
            <a:r>
              <a:rPr lang="en-US" altLang="en-US">
                <a:latin typeface="Times New Roman" panose="02020603050405020304" charset="0"/>
                <a:cs typeface="Times New Roman" panose="02020603050405020304" charset="0"/>
              </a:rPr>
              <a:t>Allama Iqbal (1930 Allahabad Address): Proposed a separate Muslim state in northwest India; emphasized Islam as a complete way of life.</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Muhammad Ali Jinnah: Former Congress leader who became the leader of the Muslim League; demanded Pakistan through the Lahore Resolution (1940).</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Their vision was based on the Two-Nation Theory, arguing that Hindus and Muslims were distinct nations, and Muslims required a separate homeland.</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b="1"/>
              <a:t>Toward Partition: Muslim Nationalism Triumphs</a:t>
            </a:r>
            <a:endParaRPr lang="en-US" altLang="en-US" b="1"/>
          </a:p>
        </p:txBody>
      </p:sp>
      <p:sp>
        <p:nvSpPr>
          <p:cNvPr id="3" name="Content Placeholder 2"/>
          <p:cNvSpPr>
            <a:spLocks noGrp="1"/>
          </p:cNvSpPr>
          <p:nvPr>
            <p:ph idx="1"/>
          </p:nvPr>
        </p:nvSpPr>
        <p:spPr/>
        <p:txBody>
          <a:bodyPr>
            <a:normAutofit lnSpcReduction="20000"/>
          </a:bodyPr>
          <a:p>
            <a:r>
              <a:rPr lang="en-US" altLang="en-US"/>
              <a:t>Key events that pushed Muslim nationalism toward statehood:</a:t>
            </a:r>
            <a:endParaRPr lang="en-US" altLang="en-US"/>
          </a:p>
          <a:p>
            <a:endParaRPr lang="en-US" altLang="en-US"/>
          </a:p>
          <a:p>
            <a:r>
              <a:rPr lang="en-US" altLang="en-US"/>
              <a:t>1937 Elections: Congress refused to share power, alienating Muslims</a:t>
            </a:r>
            <a:endParaRPr lang="en-US" altLang="en-US"/>
          </a:p>
          <a:p>
            <a:endParaRPr lang="en-US" altLang="en-US"/>
          </a:p>
          <a:p>
            <a:r>
              <a:rPr lang="en-US" altLang="en-US"/>
              <a:t>1940 Lahore Resolution: Official call for separate Muslim states</a:t>
            </a:r>
            <a:endParaRPr lang="en-US" altLang="en-US"/>
          </a:p>
          <a:p>
            <a:endParaRPr lang="en-US" altLang="en-US"/>
          </a:p>
          <a:p>
            <a:r>
              <a:rPr lang="en-US" altLang="en-US"/>
              <a:t>1946 Direct Action Day: Communal violence escalated</a:t>
            </a:r>
            <a:endParaRPr lang="en-US" altLang="en-US"/>
          </a:p>
          <a:p>
            <a:endParaRPr lang="en-US" altLang="en-US"/>
          </a:p>
          <a:p>
            <a:r>
              <a:rPr lang="en-US" altLang="en-US"/>
              <a:t>1947 Partition of India: Muslim League succeeded in its demand for Pakistan</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Legacy of Muslim Nationalism</a:t>
            </a:r>
            <a:endParaRPr lang="en-US" altLang="en-US" b="1"/>
          </a:p>
        </p:txBody>
      </p:sp>
      <p:sp>
        <p:nvSpPr>
          <p:cNvPr id="3" name="Content Placeholder 2"/>
          <p:cNvSpPr>
            <a:spLocks noGrp="1"/>
          </p:cNvSpPr>
          <p:nvPr>
            <p:ph idx="1"/>
          </p:nvPr>
        </p:nvSpPr>
        <p:spPr/>
        <p:txBody>
          <a:bodyPr/>
          <a:p>
            <a:r>
              <a:rPr lang="en-US" altLang="en-US"/>
              <a:t>Led to the creation of Pakistan in 1947</a:t>
            </a:r>
            <a:endParaRPr lang="en-US" altLang="en-US"/>
          </a:p>
          <a:p>
            <a:endParaRPr lang="en-US" altLang="en-US"/>
          </a:p>
          <a:p>
            <a:r>
              <a:rPr lang="en-US" altLang="en-US"/>
              <a:t>Shaped the ideological foundation of Pakistan as an Islamic republic</a:t>
            </a:r>
            <a:endParaRPr lang="en-US" altLang="en-US"/>
          </a:p>
          <a:p>
            <a:endParaRPr lang="en-US" altLang="en-US"/>
          </a:p>
          <a:p>
            <a:r>
              <a:rPr lang="en-US" altLang="en-US"/>
              <a:t>Left lasting impacts on India-Pakistan relations and South Asian politics</a:t>
            </a:r>
            <a:endParaRPr lang="en-US" altLang="en-US"/>
          </a:p>
          <a:p>
            <a:endParaRPr lang="en-US" altLang="en-US"/>
          </a:p>
          <a:p>
            <a:r>
              <a:rPr lang="en-US" altLang="en-US"/>
              <a:t>Sparked debate: Was it identity protection or political division?</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Summary</a:t>
            </a:r>
            <a:endParaRPr lang="en-US" b="1"/>
          </a:p>
        </p:txBody>
      </p:sp>
      <p:sp>
        <p:nvSpPr>
          <p:cNvPr id="3" name="Content Placeholder 2"/>
          <p:cNvSpPr>
            <a:spLocks noGrp="1"/>
          </p:cNvSpPr>
          <p:nvPr>
            <p:ph idx="1"/>
          </p:nvPr>
        </p:nvSpPr>
        <p:spPr/>
        <p:txBody>
          <a:bodyPr/>
          <a:p>
            <a:r>
              <a:rPr lang="en-US" altLang="en-US"/>
              <a:t>Phase	                    Key Development</a:t>
            </a:r>
            <a:endParaRPr lang="en-US" altLang="en-US"/>
          </a:p>
          <a:p>
            <a:r>
              <a:rPr lang="en-US" altLang="en-US"/>
              <a:t>1857 Aftermath	        Decline of Muslim power</a:t>
            </a:r>
            <a:endParaRPr lang="en-US" altLang="en-US"/>
          </a:p>
          <a:p>
            <a:r>
              <a:rPr lang="en-US" altLang="en-US"/>
              <a:t>1875–1906	        Aligarh Movement reforms</a:t>
            </a:r>
            <a:endParaRPr lang="en-US" altLang="en-US"/>
          </a:p>
          <a:p>
            <a:r>
              <a:rPr lang="en-US" altLang="en-US"/>
              <a:t>1906	                  Formation of Muslim League</a:t>
            </a:r>
            <a:endParaRPr lang="en-US" altLang="en-US"/>
          </a:p>
          <a:p>
            <a:r>
              <a:rPr lang="en-US" altLang="en-US"/>
              <a:t>1930–1940	      Iqbal’s vision, Lahore Resolution</a:t>
            </a:r>
            <a:endParaRPr lang="en-US" altLang="en-US"/>
          </a:p>
          <a:p>
            <a:r>
              <a:rPr lang="en-US" altLang="en-US"/>
              <a:t>1947	                  Creation of Pakistan</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Conclusion</a:t>
            </a:r>
            <a:endParaRPr lang="en-US"/>
          </a:p>
        </p:txBody>
      </p:sp>
      <p:sp>
        <p:nvSpPr>
          <p:cNvPr id="3" name="Content Placeholder 2"/>
          <p:cNvSpPr>
            <a:spLocks noGrp="1"/>
          </p:cNvSpPr>
          <p:nvPr>
            <p:ph idx="1"/>
          </p:nvPr>
        </p:nvSpPr>
        <p:spPr/>
        <p:txBody>
          <a:bodyPr/>
          <a:p>
            <a:pPr marL="0" indent="0" algn="ctr">
              <a:buNone/>
            </a:pPr>
            <a:endParaRPr lang="en-US"/>
          </a:p>
          <a:p>
            <a:pPr marL="0" indent="0" algn="ctr">
              <a:buNone/>
            </a:pPr>
            <a:endParaRPr lang="en-US"/>
          </a:p>
          <a:p>
            <a:pPr marL="0" indent="0" algn="ctr">
              <a:buNone/>
            </a:pPr>
            <a:r>
              <a:rPr lang="en-US"/>
              <a:t>?</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Conclusion</a:t>
            </a:r>
            <a:endParaRPr lang="en-US"/>
          </a:p>
        </p:txBody>
      </p:sp>
      <p:sp>
        <p:nvSpPr>
          <p:cNvPr id="3" name="Content Placeholder 2"/>
          <p:cNvSpPr>
            <a:spLocks noGrp="1"/>
          </p:cNvSpPr>
          <p:nvPr>
            <p:ph idx="1"/>
          </p:nvPr>
        </p:nvSpPr>
        <p:spPr/>
        <p:txBody>
          <a:bodyPr/>
          <a:p>
            <a:r>
              <a:rPr lang="en-US" altLang="en-US" sz="2400">
                <a:latin typeface="Times New Roman" panose="02020603050405020304" charset="0"/>
                <a:cs typeface="Times New Roman" panose="02020603050405020304" charset="0"/>
                <a:sym typeface="+mn-ea"/>
              </a:rPr>
              <a:t>Muslim nationalism in the Indian Subcontinent was not a sudden movement, but the result of a gradual awakening among Muslims following their decline after the 1857 War of Independence. The Aligarh Movement, led by Sir Syed Ahmad Khan, played a crucial role in reshaping Muslim identity through modern education, social reform, and political awareness.</a:t>
            </a:r>
            <a:endParaRPr lang="en-US" altLang="en-US" sz="2400">
              <a:latin typeface="Times New Roman" panose="02020603050405020304" charset="0"/>
              <a:cs typeface="Times New Roman" panose="02020603050405020304" charset="0"/>
            </a:endParaRP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sym typeface="+mn-ea"/>
              </a:rPr>
              <a:t>Over time, this identity evolved into a political ideology — shaped by thinkers like Allama Iqbal and actualized by leaders like Muhammad Ali Jinnah. The Two-Nation Theory became the ideological foundation of Muslim nationalism, asserting that Muslims were a separate nation deserving of their own state.</a:t>
            </a:r>
            <a:endParaRPr lang="en-US" altLang="en-US" sz="2400">
              <a:latin typeface="Times New Roman" panose="02020603050405020304" charset="0"/>
              <a:cs typeface="Times New Roman" panose="02020603050405020304" charset="0"/>
            </a:endParaRPr>
          </a:p>
          <a:p>
            <a:endParaRPr 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sz="2800">
                <a:latin typeface="Times New Roman" panose="02020603050405020304" charset="0"/>
                <a:cs typeface="Times New Roman" panose="02020603050405020304" charset="0"/>
              </a:rPr>
              <a:t>The culmination of this process was the creation of Pakistan in 1947, altering the political map of South Asia. While it successfully established a homeland for Muslims, it also left behind complex legacies — including partition violence, communal tensions, and debates about nationalism, identity, and secularism in both Pakistan and India.</a:t>
            </a:r>
            <a:endParaRPr lang="en-US" altLang="en-US" sz="2800">
              <a:latin typeface="Times New Roman" panose="02020603050405020304" charset="0"/>
              <a:cs typeface="Times New Roman" panose="02020603050405020304" charset="0"/>
            </a:endParaRPr>
          </a:p>
          <a:p>
            <a:endParaRPr lang="en-US" altLang="en-US" sz="2800">
              <a:latin typeface="Times New Roman" panose="02020603050405020304" charset="0"/>
              <a:cs typeface="Times New Roman" panose="02020603050405020304" charset="0"/>
            </a:endParaRPr>
          </a:p>
          <a:p>
            <a:r>
              <a:rPr lang="en-US" altLang="en-US" sz="2800">
                <a:latin typeface="Times New Roman" panose="02020603050405020304" charset="0"/>
                <a:cs typeface="Times New Roman" panose="02020603050405020304" charset="0"/>
              </a:rPr>
              <a:t>In essence, Muslim nationalism was both a response to marginalization and a vision for political self-determination, which reshaped the history and geopolitics of the entire region.</a:t>
            </a:r>
            <a:endParaRPr lang="en-US" altLang="en-US" sz="280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4667</Words>
  <Application>WPS Presentation</Application>
  <PresentationFormat>Widescreen</PresentationFormat>
  <Paragraphs>101</Paragraphs>
  <Slides>12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Arial</vt:lpstr>
      <vt:lpstr>SimSun</vt:lpstr>
      <vt:lpstr>Wingdings</vt:lpstr>
      <vt:lpstr>Times New Roman</vt:lpstr>
      <vt:lpstr>Microsoft YaHei</vt:lpstr>
      <vt:lpstr>Arial Unicode MS</vt:lpstr>
      <vt:lpstr>Calibri</vt:lpstr>
      <vt:lpstr>Blue Waves</vt:lpstr>
      <vt:lpstr>Nationalism in subcontinent The ideology of Pakistan </vt:lpstr>
      <vt:lpstr>Introduction – Understanding Muslim Nationalism</vt:lpstr>
      <vt:lpstr>1. Background: 1857 and the Decline of Muslim Power</vt:lpstr>
      <vt:lpstr>Rise of Muslim Nationalism through the Aligarh Movement</vt:lpstr>
      <vt:lpstr>Formation of the All-India Muslim League (1906)</vt:lpstr>
      <vt:lpstr>Key Ideologies: Allama Iqbal &amp; Muhammad Ali Jinnah</vt:lpstr>
      <vt:lpstr>Toward Partition: Muslim Nationalism Triumphs</vt:lpstr>
      <vt:lpstr>Legacy of Muslim Nationalism</vt:lpstr>
      <vt:lpstr>Summary</vt:lpstr>
      <vt:lpstr>Conclusion</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Researcher Qau</cp:lastModifiedBy>
  <cp:revision>12</cp:revision>
  <dcterms:created xsi:type="dcterms:W3CDTF">2025-07-23T00:59:00Z</dcterms:created>
  <dcterms:modified xsi:type="dcterms:W3CDTF">2025-09-07T20:49:19Z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043D4D66FE104283BCC5DBE281355729_11</vt:lpwstr>
  </property>
  <property fmtid="{D5CDD505-2E9C-101B-9397-08002B2CF9AE}" pid="3" name="KSOProductBuildVer">
    <vt:lpwstr>1033-12.2.0.22555</vt:lpwstr>
  </property>
</Properties>
</file>