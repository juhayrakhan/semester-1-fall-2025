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4" r:id="rId9"/>
    <p:sldId id="265" r:id="rId10"/>
    <p:sldId id="266" r:id="rId11"/>
    <p:sldId id="267" r:id="rId12"/>
    <p:sldId id="268" r:id="rId13"/>
    <p:sldId id="269" r:id="rId14"/>
    <p:sldId id="26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F0BAAD2C-239B-4ADB-A8D4-5C5FC3246BCA}" type="datetimeFigureOut">
              <a:rPr lang="en-US" smtClean="0"/>
              <a:t>9/7/2025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1738435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BAAD2C-239B-4ADB-A8D4-5C5FC3246BCA}"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1700867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0BAAD2C-239B-4ADB-A8D4-5C5FC3246BCA}" type="datetimeFigureOut">
              <a:rPr lang="en-US" smtClean="0"/>
              <a:t>9/7/2025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3589173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BAAD2C-239B-4ADB-A8D4-5C5FC3246BCA}" type="datetimeFigureOut">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3859015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BAAD2C-239B-4ADB-A8D4-5C5FC3246BCA}" type="datetimeFigureOut">
              <a:rPr lang="en-US" smtClean="0"/>
              <a:t>9/7/2025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320121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BAAD2C-239B-4ADB-A8D4-5C5FC3246BCA}" type="datetimeFigureOut">
              <a:rPr lang="en-US" smtClean="0"/>
              <a:t>9/7/2025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304907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BAAD2C-239B-4ADB-A8D4-5C5FC3246BCA}" type="datetimeFigureOut">
              <a:rPr lang="en-US" smtClean="0"/>
              <a:t>9/7/2025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557449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0BAAD2C-239B-4ADB-A8D4-5C5FC3246BCA}" type="datetimeFigureOut">
              <a:rPr lang="en-US" smtClean="0"/>
              <a:t>9/7/2025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1129421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BAAD2C-239B-4ADB-A8D4-5C5FC3246BCA}" type="datetimeFigureOut">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4292098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BAAD2C-239B-4ADB-A8D4-5C5FC3246BCA}"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55049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0BAAD2C-239B-4ADB-A8D4-5C5FC3246BCA}" type="datetimeFigureOut">
              <a:rPr lang="en-US" smtClean="0"/>
              <a:t>9/7/2025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2691519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0BAAD2C-239B-4ADB-A8D4-5C5FC3246BCA}" type="datetimeFigureOut">
              <a:rPr lang="en-US" smtClean="0"/>
              <a:t>9/7/2025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1EE69F1-2CED-49D1-B54F-EAC455F09142}"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19251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AD8-727D-44FD-B3F2-59074CD49CC1}"/>
              </a:ext>
            </a:extLst>
          </p:cNvPr>
          <p:cNvSpPr>
            <a:spLocks noGrp="1"/>
          </p:cNvSpPr>
          <p:nvPr>
            <p:ph type="ctrTitle"/>
          </p:nvPr>
        </p:nvSpPr>
        <p:spPr>
          <a:xfrm>
            <a:off x="2616469" y="3429000"/>
            <a:ext cx="10993549" cy="1475013"/>
          </a:xfrm>
        </p:spPr>
        <p:txBody>
          <a:bodyPr>
            <a:normAutofit/>
          </a:bodyPr>
          <a:lstStyle/>
          <a:p>
            <a:r>
              <a:rPr lang="en-US" sz="4000" b="1" dirty="0">
                <a:solidFill>
                  <a:schemeClr val="bg1"/>
                </a:solidFill>
              </a:rPr>
              <a:t>Two Nation Theory</a:t>
            </a:r>
          </a:p>
        </p:txBody>
      </p:sp>
    </p:spTree>
    <p:extLst>
      <p:ext uri="{BB962C8B-B14F-4D97-AF65-F5344CB8AC3E}">
        <p14:creationId xmlns:p14="http://schemas.microsoft.com/office/powerpoint/2010/main" val="654877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541ED-50D1-4A42-B4FF-7613966EB7A4}"/>
              </a:ext>
            </a:extLst>
          </p:cNvPr>
          <p:cNvSpPr>
            <a:spLocks noGrp="1"/>
          </p:cNvSpPr>
          <p:nvPr>
            <p:ph type="title"/>
          </p:nvPr>
        </p:nvSpPr>
        <p:spPr/>
        <p:txBody>
          <a:bodyPr/>
          <a:lstStyle/>
          <a:p>
            <a:r>
              <a:rPr lang="en-US" b="1" dirty="0"/>
              <a:t>Introduction to Two Nation Theory</a:t>
            </a:r>
          </a:p>
        </p:txBody>
      </p:sp>
      <p:sp>
        <p:nvSpPr>
          <p:cNvPr id="3" name="Content Placeholder 2">
            <a:extLst>
              <a:ext uri="{FF2B5EF4-FFF2-40B4-BE49-F238E27FC236}">
                <a16:creationId xmlns:a16="http://schemas.microsoft.com/office/drawing/2014/main" id="{BD932B60-9F92-4276-8679-F9D811945079}"/>
              </a:ext>
            </a:extLst>
          </p:cNvPr>
          <p:cNvSpPr>
            <a:spLocks noGrp="1"/>
          </p:cNvSpPr>
          <p:nvPr>
            <p:ph idx="1"/>
          </p:nvPr>
        </p:nvSpPr>
        <p:spPr/>
        <p:txBody>
          <a:bodyPr>
            <a:normAutofit/>
          </a:bodyPr>
          <a:lstStyle/>
          <a:p>
            <a:pPr algn="just"/>
            <a:r>
              <a:rPr lang="en-US" sz="2000" b="0" i="0" dirty="0">
                <a:solidFill>
                  <a:schemeClr val="tx1"/>
                </a:solidFill>
                <a:effectLst/>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Two-Nation</a:t>
            </a:r>
            <a:r>
              <a:rPr lang="en-US" sz="2000" b="0" i="0" dirty="0">
                <a:solidFill>
                  <a:schemeClr val="tx1"/>
                </a:solidFill>
                <a:effectLst/>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T</a:t>
            </a:r>
            <a:r>
              <a:rPr lang="en-US" sz="2000" b="0" i="0" dirty="0">
                <a:solidFill>
                  <a:schemeClr val="tx1"/>
                </a:solidFill>
                <a:effectLst/>
                <a:latin typeface="Times New Roman" panose="02020603050405020304" pitchFamily="18" charset="0"/>
                <a:cs typeface="Times New Roman" panose="02020603050405020304" pitchFamily="18" charset="0"/>
              </a:rPr>
              <a:t>heory, in its simplest way, means that </a:t>
            </a:r>
            <a:r>
              <a:rPr lang="en-US" sz="2000" b="1" i="0" dirty="0">
                <a:solidFill>
                  <a:schemeClr val="tx1"/>
                </a:solidFill>
                <a:effectLst/>
                <a:latin typeface="Times New Roman" panose="02020603050405020304" pitchFamily="18" charset="0"/>
                <a:cs typeface="Times New Roman" panose="02020603050405020304" pitchFamily="18" charset="0"/>
              </a:rPr>
              <a:t>cultural, political, religious, economic, and social</a:t>
            </a:r>
            <a:r>
              <a:rPr lang="en-US" sz="2000" b="0" i="0" dirty="0">
                <a:solidFill>
                  <a:schemeClr val="tx1"/>
                </a:solidFill>
                <a:effectLst/>
                <a:latin typeface="Times New Roman" panose="02020603050405020304" pitchFamily="18" charset="0"/>
                <a:cs typeface="Times New Roman" panose="02020603050405020304" pitchFamily="18" charset="0"/>
              </a:rPr>
              <a:t> dissimilarities between the two major communities, Hindus and Muslims, lived in the Subcontinent before the emergence of Pakistan in 1947.</a:t>
            </a:r>
          </a:p>
          <a:p>
            <a:pPr algn="just"/>
            <a:r>
              <a:rPr lang="en-US" sz="2000" dirty="0">
                <a:solidFill>
                  <a:schemeClr val="tx1"/>
                </a:solidFill>
                <a:latin typeface="Times New Roman" panose="02020603050405020304" pitchFamily="18" charset="0"/>
                <a:cs typeface="Times New Roman" panose="02020603050405020304" pitchFamily="18" charset="0"/>
              </a:rPr>
              <a:t>Pakistan got its independence based on the Two-Nation Theory. Because the Hindus and Muslims were different from each other by every definition, be that religion, culture, language, society, etc. </a:t>
            </a:r>
          </a:p>
          <a:p>
            <a:pPr algn="just"/>
            <a:r>
              <a:rPr lang="en-US" sz="2000" b="0" i="0" dirty="0">
                <a:solidFill>
                  <a:schemeClr val="tx1"/>
                </a:solidFill>
                <a:effectLst/>
                <a:latin typeface="Times New Roman" panose="02020603050405020304" pitchFamily="18" charset="0"/>
                <a:cs typeface="Times New Roman" panose="02020603050405020304" pitchFamily="18" charset="0"/>
              </a:rPr>
              <a:t>The theory of the Two Nations, which is seeded by the desire to establish a free state in India, is nurtured by the </a:t>
            </a:r>
            <a:r>
              <a:rPr lang="en-US" sz="2000" b="1" i="0" dirty="0">
                <a:solidFill>
                  <a:schemeClr val="tx1"/>
                </a:solidFill>
                <a:effectLst/>
                <a:latin typeface="Times New Roman" panose="02020603050405020304" pitchFamily="18" charset="0"/>
                <a:cs typeface="Times New Roman" panose="02020603050405020304" pitchFamily="18" charset="0"/>
              </a:rPr>
              <a:t>cultural, linguistic, political, religious, economic, and social differences between the two communities living together</a:t>
            </a:r>
            <a:r>
              <a:rPr lang="en-US" sz="2000" b="0" i="0" dirty="0">
                <a:solidFill>
                  <a:schemeClr val="tx1"/>
                </a:solidFill>
                <a:effectLst/>
                <a:latin typeface="Times New Roman" panose="02020603050405020304" pitchFamily="18" charset="0"/>
                <a:cs typeface="Times New Roman" panose="02020603050405020304" pitchFamily="18" charset="0"/>
              </a:rPr>
              <a:t> in a fundamental sense.</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417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29A9B-5380-4646-9D10-BC0B18B09D3D}"/>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History of Two Nation Theory</a:t>
            </a:r>
          </a:p>
        </p:txBody>
      </p:sp>
      <p:sp>
        <p:nvSpPr>
          <p:cNvPr id="3" name="Content Placeholder 2">
            <a:extLst>
              <a:ext uri="{FF2B5EF4-FFF2-40B4-BE49-F238E27FC236}">
                <a16:creationId xmlns:a16="http://schemas.microsoft.com/office/drawing/2014/main" id="{8434D747-29DC-4FAF-AA75-91B5CBF95F4B}"/>
              </a:ext>
            </a:extLst>
          </p:cNvPr>
          <p:cNvSpPr>
            <a:spLocks noGrp="1"/>
          </p:cNvSpPr>
          <p:nvPr>
            <p:ph idx="1"/>
          </p:nvPr>
        </p:nvSpPr>
        <p:spPr/>
        <p:txBody>
          <a:bodyPr>
            <a:normAutofit/>
          </a:bodyPr>
          <a:lstStyle/>
          <a:p>
            <a:pPr algn="just"/>
            <a:r>
              <a:rPr lang="en-US" sz="2000" dirty="0">
                <a:solidFill>
                  <a:schemeClr val="tx1"/>
                </a:solidFill>
                <a:latin typeface="Times New Roman" panose="02020603050405020304" pitchFamily="18" charset="0"/>
                <a:cs typeface="Times New Roman" panose="02020603050405020304" pitchFamily="18" charset="0"/>
              </a:rPr>
              <a:t>By the two-nation theory, it simply means that there were two nations in British India, the </a:t>
            </a:r>
            <a:r>
              <a:rPr lang="en-US" sz="2000" b="1" dirty="0">
                <a:solidFill>
                  <a:schemeClr val="tx1"/>
                </a:solidFill>
                <a:latin typeface="Times New Roman" panose="02020603050405020304" pitchFamily="18" charset="0"/>
                <a:cs typeface="Times New Roman" panose="02020603050405020304" pitchFamily="18" charset="0"/>
              </a:rPr>
              <a:t>Muslims and Hindus</a:t>
            </a:r>
            <a:r>
              <a:rPr lang="en-US" sz="2000" dirty="0">
                <a:solidFill>
                  <a:schemeClr val="tx1"/>
                </a:solidFill>
                <a:latin typeface="Times New Roman" panose="02020603050405020304" pitchFamily="18" charset="0"/>
                <a:cs typeface="Times New Roman" panose="02020603050405020304" pitchFamily="18" charset="0"/>
              </a:rPr>
              <a:t>. </a:t>
            </a:r>
          </a:p>
          <a:p>
            <a:pPr algn="just"/>
            <a:r>
              <a:rPr lang="en-US" sz="2000" dirty="0">
                <a:solidFill>
                  <a:schemeClr val="tx1"/>
                </a:solidFill>
                <a:latin typeface="Times New Roman" panose="02020603050405020304" pitchFamily="18" charset="0"/>
                <a:cs typeface="Times New Roman" panose="02020603050405020304" pitchFamily="18" charset="0"/>
              </a:rPr>
              <a:t>Most of the scholars argue that the two-nation theory emerged in the 19</a:t>
            </a:r>
            <a:r>
              <a:rPr lang="en-US" sz="2000" baseline="30000" dirty="0">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 and 20</a:t>
            </a:r>
            <a:r>
              <a:rPr lang="en-US" sz="2000" baseline="30000" dirty="0">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 centuries. But it’s an undeniable fact that the two-nation theory is as old as the Muslims’ advent in the subcontinent. </a:t>
            </a:r>
          </a:p>
          <a:p>
            <a:pPr algn="just"/>
            <a:r>
              <a:rPr lang="en-US" sz="2000" dirty="0">
                <a:solidFill>
                  <a:schemeClr val="tx1"/>
                </a:solidFill>
                <a:latin typeface="Times New Roman" panose="02020603050405020304" pitchFamily="18" charset="0"/>
                <a:cs typeface="Times New Roman" panose="02020603050405020304" pitchFamily="18" charset="0"/>
              </a:rPr>
              <a:t>Although the Hindus and Muslims lived together but they never trusted each other. </a:t>
            </a:r>
          </a:p>
          <a:p>
            <a:pPr algn="just"/>
            <a:r>
              <a:rPr lang="en-US" sz="2000" dirty="0">
                <a:solidFill>
                  <a:schemeClr val="tx1"/>
                </a:solidFill>
                <a:latin typeface="Times New Roman" panose="02020603050405020304" pitchFamily="18" charset="0"/>
                <a:cs typeface="Times New Roman" panose="02020603050405020304" pitchFamily="18" charset="0"/>
              </a:rPr>
              <a:t>Muhammad Ali Jinnah rightly remarked that “Pakistan came into being the day the first Muslim was born on the soil of the subcontinent.”</a:t>
            </a:r>
          </a:p>
          <a:p>
            <a:pPr algn="just"/>
            <a:r>
              <a:rPr lang="en-US" sz="2000" dirty="0">
                <a:solidFill>
                  <a:schemeClr val="tx1"/>
                </a:solidFill>
                <a:latin typeface="Times New Roman" panose="02020603050405020304" pitchFamily="18" charset="0"/>
                <a:cs typeface="Times New Roman" panose="02020603050405020304" pitchFamily="18" charset="0"/>
              </a:rPr>
              <a:t>Jinnah was not the only person who identified the differences between Hindus and Muslims; many other renowned personalities observed the two-nation dissimilarities earlier.</a:t>
            </a:r>
          </a:p>
        </p:txBody>
      </p:sp>
    </p:spTree>
    <p:extLst>
      <p:ext uri="{BB962C8B-B14F-4D97-AF65-F5344CB8AC3E}">
        <p14:creationId xmlns:p14="http://schemas.microsoft.com/office/powerpoint/2010/main" val="1782398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F024-4024-44CD-8913-26622D4C00AA}"/>
              </a:ext>
            </a:extLst>
          </p:cNvPr>
          <p:cNvSpPr>
            <a:spLocks noGrp="1"/>
          </p:cNvSpPr>
          <p:nvPr>
            <p:ph type="title"/>
          </p:nvPr>
        </p:nvSpPr>
        <p:spPr/>
        <p:txBody>
          <a:bodyPr/>
          <a:lstStyle/>
          <a:p>
            <a:r>
              <a:rPr lang="en-US" b="1" dirty="0"/>
              <a:t>Muslim Leaders and The Two Nation Theory</a:t>
            </a:r>
          </a:p>
        </p:txBody>
      </p:sp>
      <p:sp>
        <p:nvSpPr>
          <p:cNvPr id="3" name="Content Placeholder 2">
            <a:extLst>
              <a:ext uri="{FF2B5EF4-FFF2-40B4-BE49-F238E27FC236}">
                <a16:creationId xmlns:a16="http://schemas.microsoft.com/office/drawing/2014/main" id="{98ED58DC-B7F6-4D3A-9DDF-A242A9117028}"/>
              </a:ext>
            </a:extLst>
          </p:cNvPr>
          <p:cNvSpPr>
            <a:spLocks noGrp="1"/>
          </p:cNvSpPr>
          <p:nvPr>
            <p:ph idx="1"/>
          </p:nvPr>
        </p:nvSpPr>
        <p:spPr>
          <a:xfrm>
            <a:off x="581192" y="2477541"/>
            <a:ext cx="11029615" cy="3678303"/>
          </a:xfrm>
        </p:spPr>
        <p:txBody>
          <a:bodyPr>
            <a:noAutofit/>
          </a:bodyPr>
          <a:lstStyle/>
          <a:p>
            <a:pPr marL="0" marR="0" algn="just">
              <a:lnSpc>
                <a:spcPct val="107000"/>
              </a:lnSpc>
              <a:spcBef>
                <a:spcPts val="0"/>
              </a:spcBef>
              <a:spcAft>
                <a:spcPts val="800"/>
              </a:spcAft>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Sir Syed Ahmad Khan</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considered as the founder of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Two Nation theory</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who identified the Muslims as a separate nation form Hindus.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Later on, Muhammad Ali Jinnah recognized the Muslims as a separate nation by every definition, be it culture, religion, customs and origin.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subcontinent witnesses the two nation theory long before the Muslim advent in the subcontinent. It is true that the Hindus and Muslims lived together under the same ruler but it cannot be denying that the same Hindu and Muslims did not trust each other.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Hindus considered Muslims as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intruders</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there could be no reconciliation between the both. Muhammad Ali Jinnah rightly remarked that ‘</a:t>
            </a:r>
            <a:r>
              <a:rPr lang="en-US" sz="2000"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Pakistan came into existence the day first Muslim was born on the soil of the subcontinent.’</a:t>
            </a:r>
            <a:endParaRPr lang="en-US" sz="2000"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solidFill>
                <a:schemeClr val="tx1"/>
              </a:solidFill>
            </a:endParaRPr>
          </a:p>
        </p:txBody>
      </p:sp>
    </p:spTree>
    <p:extLst>
      <p:ext uri="{BB962C8B-B14F-4D97-AF65-F5344CB8AC3E}">
        <p14:creationId xmlns:p14="http://schemas.microsoft.com/office/powerpoint/2010/main" val="1231940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72FF8-F010-4260-8D11-D9D35AC8CF29}"/>
              </a:ext>
            </a:extLst>
          </p:cNvPr>
          <p:cNvSpPr>
            <a:spLocks noGrp="1"/>
          </p:cNvSpPr>
          <p:nvPr>
            <p:ph type="title"/>
          </p:nvPr>
        </p:nvSpPr>
        <p:spPr/>
        <p:txBody>
          <a:bodyPr/>
          <a:lstStyle/>
          <a:p>
            <a:r>
              <a:rPr lang="en-US" b="1" dirty="0"/>
              <a:t>Historians and The Two Nation Theory</a:t>
            </a:r>
          </a:p>
        </p:txBody>
      </p:sp>
      <p:sp>
        <p:nvSpPr>
          <p:cNvPr id="3" name="Content Placeholder 2">
            <a:extLst>
              <a:ext uri="{FF2B5EF4-FFF2-40B4-BE49-F238E27FC236}">
                <a16:creationId xmlns:a16="http://schemas.microsoft.com/office/drawing/2014/main" id="{FE7961D6-EB09-4F52-A005-45E5CED2BA58}"/>
              </a:ext>
            </a:extLst>
          </p:cNvPr>
          <p:cNvSpPr>
            <a:spLocks noGrp="1"/>
          </p:cNvSpPr>
          <p:nvPr>
            <p:ph idx="1"/>
          </p:nvPr>
        </p:nvSpPr>
        <p:spPr>
          <a:xfrm>
            <a:off x="581192" y="2679259"/>
            <a:ext cx="11029615" cy="3678303"/>
          </a:xfrm>
        </p:spPr>
        <p:txBody>
          <a:bodyPr>
            <a:noAutofit/>
          </a:bodyPr>
          <a:lstStyle/>
          <a:p>
            <a:pPr marL="0" marR="0" algn="just">
              <a:lnSpc>
                <a:spcPct val="107000"/>
              </a:lnSpc>
              <a:spcBef>
                <a:spcPts val="0"/>
              </a:spcBef>
              <a:spcAft>
                <a:spcPts val="800"/>
              </a:spcAft>
            </a:pP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Jinnah</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was not the first person who stressed upon the separate identity of Muslims,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Alberuni</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Ibn-</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Batuta</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who visited India during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Ghanavid</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period and observed the differences among the two communities and remarked that ‘Hindus and Muslims were distinct nations just opposed to each other.’ </a:t>
            </a:r>
          </a:p>
          <a:p>
            <a:pPr marL="0" marR="0" algn="just">
              <a:lnSpc>
                <a:spcPct val="107000"/>
              </a:lnSpc>
              <a:spcBef>
                <a:spcPts val="0"/>
              </a:spcBef>
              <a:spcAft>
                <a:spcPts val="800"/>
              </a:spcAft>
            </a:pP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Along with this,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Zia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ud</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din Al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barni</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 famous historian also believed in the separate identity of Muslims. He wrote in his book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Fatawa</a:t>
            </a:r>
            <a:r>
              <a:rPr lang="en-US"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Jahandari</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‘Hindus are by nature anti-Islam and their differences are going widening day by day.</a:t>
            </a:r>
            <a:endParaRPr lang="en-US"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Sir Syed Ahmad Khan</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tried to unite the Hindus and Muslims and remarked that </a:t>
            </a:r>
            <a:r>
              <a:rPr lang="en-US"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India is like a bride and Hindu and Muslims are its two eyes but all in vain</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hence Sir Syed Ahmad Khan also recognized both the communities as distinct nations after the harsh policies of congress. </a:t>
            </a:r>
          </a:p>
          <a:p>
            <a:pPr marL="0" marR="0" algn="just">
              <a:lnSpc>
                <a:spcPct val="107000"/>
              </a:lnSpc>
              <a:spcBef>
                <a:spcPts val="0"/>
              </a:spcBef>
              <a:spcAft>
                <a:spcPts val="800"/>
              </a:spcAft>
            </a:pP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 the 20</a:t>
            </a:r>
            <a:r>
              <a:rPr lang="en-US" baseline="30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century,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partition of Bengal</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 1905,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Khilafat Movement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Nehru report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1937 congress ministries</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were all the major incidents that gave practical shape to the two nation theory. Consequently,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Lahore resolution in 1940</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drew a way towards separate homeland and Pakistan emerged on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a:t>
            </a:r>
            <a:r>
              <a:rPr lang="en-US" b="1" baseline="30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August 1947.</a:t>
            </a:r>
            <a:endParaRPr lang="en-US"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chemeClr val="tx1"/>
              </a:solidFill>
            </a:endParaRPr>
          </a:p>
        </p:txBody>
      </p:sp>
    </p:spTree>
    <p:extLst>
      <p:ext uri="{BB962C8B-B14F-4D97-AF65-F5344CB8AC3E}">
        <p14:creationId xmlns:p14="http://schemas.microsoft.com/office/powerpoint/2010/main" val="63771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5179" y="1799302"/>
            <a:ext cx="9144000" cy="1196995"/>
          </a:xfrm>
        </p:spPr>
        <p:txBody>
          <a:bodyPr/>
          <a:lstStyle/>
          <a:p>
            <a:r>
              <a:rPr lang="en-US" dirty="0">
                <a:latin typeface="Arial Rounded MT Bold" panose="020F0704030504030204" pitchFamily="34" charset="0"/>
              </a:rPr>
              <a:t>The Ideology of Pakistan</a:t>
            </a:r>
          </a:p>
        </p:txBody>
      </p:sp>
      <p:sp>
        <p:nvSpPr>
          <p:cNvPr id="3" name="TextBox 2">
            <a:extLst>
              <a:ext uri="{FF2B5EF4-FFF2-40B4-BE49-F238E27FC236}">
                <a16:creationId xmlns:a16="http://schemas.microsoft.com/office/drawing/2014/main" id="{3BA51418-FFF1-094B-0820-911C0DA3D75C}"/>
              </a:ext>
            </a:extLst>
          </p:cNvPr>
          <p:cNvSpPr txBox="1"/>
          <p:nvPr/>
        </p:nvSpPr>
        <p:spPr>
          <a:xfrm>
            <a:off x="8465127" y="5500255"/>
            <a:ext cx="3131128" cy="369332"/>
          </a:xfrm>
          <a:prstGeom prst="rect">
            <a:avLst/>
          </a:prstGeom>
          <a:noFill/>
        </p:spPr>
        <p:txBody>
          <a:bodyPr wrap="square" rtlCol="0">
            <a:spAutoFit/>
          </a:bodyPr>
          <a:lstStyle/>
          <a:p>
            <a:r>
              <a:rPr lang="en-US" b="1" dirty="0">
                <a:solidFill>
                  <a:schemeClr val="bg1"/>
                </a:solidFill>
              </a:rPr>
              <a:t>By Muhammad Ajmal Khan</a:t>
            </a:r>
          </a:p>
        </p:txBody>
      </p:sp>
    </p:spTree>
    <p:extLst>
      <p:ext uri="{BB962C8B-B14F-4D97-AF65-F5344CB8AC3E}">
        <p14:creationId xmlns:p14="http://schemas.microsoft.com/office/powerpoint/2010/main" val="2512028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683342"/>
            <a:ext cx="9905998" cy="1905000"/>
          </a:xfrm>
        </p:spPr>
        <p:txBody>
          <a:bodyPr/>
          <a:lstStyle/>
          <a:p>
            <a:r>
              <a:rPr lang="en-US" dirty="0">
                <a:latin typeface="Arial Rounded MT Bold" panose="020F0704030504030204" pitchFamily="34" charset="0"/>
              </a:rPr>
              <a:t>What is the Meaning of ideology?</a:t>
            </a:r>
          </a:p>
        </p:txBody>
      </p:sp>
      <p:sp>
        <p:nvSpPr>
          <p:cNvPr id="3" name="Content Placeholder 2"/>
          <p:cNvSpPr>
            <a:spLocks noGrp="1"/>
          </p:cNvSpPr>
          <p:nvPr>
            <p:ph idx="1"/>
          </p:nvPr>
        </p:nvSpPr>
        <p:spPr>
          <a:xfrm>
            <a:off x="766383" y="2097957"/>
            <a:ext cx="9905998" cy="3124201"/>
          </a:xfrm>
        </p:spPr>
        <p:txBody>
          <a:bodyPr/>
          <a:lstStyle/>
          <a:p>
            <a:r>
              <a:rPr lang="en-US" dirty="0">
                <a:latin typeface="Arial Rounded MT Bold" panose="020F0704030504030204" pitchFamily="34" charset="0"/>
              </a:rPr>
              <a:t>The word ideology is derived from a Greek language; ‘</a:t>
            </a:r>
            <a:r>
              <a:rPr lang="en-US" dirty="0" err="1">
                <a:latin typeface="Arial Rounded MT Bold" panose="020F0704030504030204" pitchFamily="34" charset="0"/>
              </a:rPr>
              <a:t>Ideos</a:t>
            </a:r>
            <a:r>
              <a:rPr lang="en-US" dirty="0">
                <a:latin typeface="Arial Rounded MT Bold" panose="020F0704030504030204" pitchFamily="34" charset="0"/>
              </a:rPr>
              <a:t>’ and ‘Logos’, which means the Science or study of ideas.</a:t>
            </a:r>
          </a:p>
          <a:p>
            <a:r>
              <a:rPr lang="en-US" dirty="0">
                <a:latin typeface="Arial Rounded MT Bold" panose="020F0704030504030204" pitchFamily="34" charset="0"/>
              </a:rPr>
              <a:t> Ideology is a motivating force for a nation, which is striving hard to bring stability and homogeneity to its nationhood</a:t>
            </a:r>
          </a:p>
          <a:p>
            <a:endParaRPr lang="en-US" dirty="0">
              <a:latin typeface="Arial Rounded MT Bold" panose="020F0704030504030204" pitchFamily="34" charset="0"/>
            </a:endParaRPr>
          </a:p>
        </p:txBody>
      </p:sp>
      <p:sp>
        <p:nvSpPr>
          <p:cNvPr id="4" name="TextBox 3">
            <a:extLst>
              <a:ext uri="{FF2B5EF4-FFF2-40B4-BE49-F238E27FC236}">
                <a16:creationId xmlns:a16="http://schemas.microsoft.com/office/drawing/2014/main" id="{A12F624D-B568-4E9E-9BBB-6C7CCD7D13DC}"/>
              </a:ext>
            </a:extLst>
          </p:cNvPr>
          <p:cNvSpPr txBox="1"/>
          <p:nvPr/>
        </p:nvSpPr>
        <p:spPr>
          <a:xfrm>
            <a:off x="1143001" y="1027203"/>
            <a:ext cx="7329948" cy="584775"/>
          </a:xfrm>
          <a:prstGeom prst="rect">
            <a:avLst/>
          </a:prstGeom>
          <a:noFill/>
        </p:spPr>
        <p:txBody>
          <a:bodyPr wrap="square" rtlCol="0">
            <a:spAutoFit/>
          </a:bodyPr>
          <a:lstStyle/>
          <a:p>
            <a:r>
              <a:rPr lang="en-US" sz="3200" b="1" dirty="0">
                <a:solidFill>
                  <a:schemeClr val="bg1"/>
                </a:solidFill>
                <a:latin typeface="Times New Roman" panose="02020603050405020304" pitchFamily="18" charset="0"/>
                <a:cs typeface="Times New Roman" panose="02020603050405020304" pitchFamily="18" charset="0"/>
              </a:rPr>
              <a:t>What is the Meaning of ideology?</a:t>
            </a:r>
          </a:p>
        </p:txBody>
      </p:sp>
    </p:spTree>
    <p:extLst>
      <p:ext uri="{BB962C8B-B14F-4D97-AF65-F5344CB8AC3E}">
        <p14:creationId xmlns:p14="http://schemas.microsoft.com/office/powerpoint/2010/main" val="532126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Characteristics of Ideology</a:t>
            </a:r>
          </a:p>
        </p:txBody>
      </p:sp>
      <p:sp>
        <p:nvSpPr>
          <p:cNvPr id="3" name="Content Placeholder 2"/>
          <p:cNvSpPr>
            <a:spLocks noGrp="1"/>
          </p:cNvSpPr>
          <p:nvPr>
            <p:ph idx="1"/>
          </p:nvPr>
        </p:nvSpPr>
        <p:spPr>
          <a:xfrm>
            <a:off x="1141413" y="2013856"/>
            <a:ext cx="9905998" cy="3124201"/>
          </a:xfrm>
        </p:spPr>
        <p:txBody>
          <a:bodyPr/>
          <a:lstStyle/>
          <a:p>
            <a:r>
              <a:rPr lang="en-US" dirty="0">
                <a:latin typeface="Arial Rounded MT Bold" panose="020F0704030504030204" pitchFamily="34" charset="0"/>
              </a:rPr>
              <a:t>1. Maximum people should be united on this ideology. </a:t>
            </a:r>
          </a:p>
          <a:p>
            <a:r>
              <a:rPr lang="en-US" dirty="0">
                <a:latin typeface="Arial Rounded MT Bold" panose="020F0704030504030204" pitchFamily="34" charset="0"/>
              </a:rPr>
              <a:t>2. The ideology must be harmonized with the feelings, emotions, traditions, beliefs and values of the nation.  </a:t>
            </a:r>
          </a:p>
          <a:p>
            <a:r>
              <a:rPr lang="en-US" dirty="0">
                <a:latin typeface="Arial Rounded MT Bold" panose="020F0704030504030204" pitchFamily="34" charset="0"/>
              </a:rPr>
              <a:t>3. Enough individual /man-power is requisite in it. </a:t>
            </a:r>
          </a:p>
          <a:p>
            <a:r>
              <a:rPr lang="en-US" dirty="0">
                <a:latin typeface="Arial Rounded MT Bold" panose="020F0704030504030204" pitchFamily="34" charset="0"/>
              </a:rPr>
              <a:t>4. This can be obtained by collective efforts. </a:t>
            </a:r>
          </a:p>
          <a:p>
            <a:r>
              <a:rPr lang="en-US" dirty="0">
                <a:latin typeface="Arial Rounded MT Bold" panose="020F0704030504030204" pitchFamily="34" charset="0"/>
              </a:rPr>
              <a:t>5. An organized party of leaders to implement this ideology is imperatively required.  </a:t>
            </a:r>
          </a:p>
        </p:txBody>
      </p:sp>
    </p:spTree>
    <p:extLst>
      <p:ext uri="{BB962C8B-B14F-4D97-AF65-F5344CB8AC3E}">
        <p14:creationId xmlns:p14="http://schemas.microsoft.com/office/powerpoint/2010/main" val="216402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How Ideology Emerges? </a:t>
            </a:r>
          </a:p>
        </p:txBody>
      </p:sp>
      <p:sp>
        <p:nvSpPr>
          <p:cNvPr id="3" name="Content Placeholder 2"/>
          <p:cNvSpPr>
            <a:spLocks noGrp="1"/>
          </p:cNvSpPr>
          <p:nvPr>
            <p:ph idx="1"/>
          </p:nvPr>
        </p:nvSpPr>
        <p:spPr>
          <a:xfrm>
            <a:off x="971596" y="1674222"/>
            <a:ext cx="9905998" cy="3124201"/>
          </a:xfrm>
        </p:spPr>
        <p:txBody>
          <a:bodyPr/>
          <a:lstStyle/>
          <a:p>
            <a:r>
              <a:rPr lang="en-US" dirty="0">
                <a:latin typeface="Arial Rounded MT Bold" panose="020F0704030504030204" pitchFamily="34" charset="0"/>
              </a:rPr>
              <a:t>Reo M. Christenson, “An ideology emerges when people feel strongly that they are being mistreated under an existing order when their status is threatened by fundamental changes occurring in society and when the prevailing ideology no longer satisfies them…….” </a:t>
            </a:r>
          </a:p>
          <a:p>
            <a:r>
              <a:rPr lang="en-US" dirty="0">
                <a:latin typeface="Arial Rounded MT Bold" panose="020F0704030504030204" pitchFamily="34" charset="0"/>
              </a:rPr>
              <a:t>He further added, “An ideology offers an interpretation of the past, and an explanation of the present and a vision of the future”.</a:t>
            </a:r>
          </a:p>
        </p:txBody>
      </p:sp>
    </p:spTree>
    <p:extLst>
      <p:ext uri="{BB962C8B-B14F-4D97-AF65-F5344CB8AC3E}">
        <p14:creationId xmlns:p14="http://schemas.microsoft.com/office/powerpoint/2010/main" val="2213341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Ideology of Pakistan</a:t>
            </a:r>
          </a:p>
        </p:txBody>
      </p:sp>
      <p:sp>
        <p:nvSpPr>
          <p:cNvPr id="3" name="Content Placeholder 2"/>
          <p:cNvSpPr>
            <a:spLocks noGrp="1"/>
          </p:cNvSpPr>
          <p:nvPr>
            <p:ph idx="1"/>
          </p:nvPr>
        </p:nvSpPr>
        <p:spPr>
          <a:xfrm>
            <a:off x="997722" y="2170610"/>
            <a:ext cx="9905998" cy="3124201"/>
          </a:xfrm>
        </p:spPr>
        <p:txBody>
          <a:bodyPr/>
          <a:lstStyle/>
          <a:p>
            <a:r>
              <a:rPr lang="en-US" dirty="0">
                <a:latin typeface="Arial Rounded MT Bold" panose="020F0704030504030204" pitchFamily="34" charset="0"/>
              </a:rPr>
              <a:t>The ideology of Pakistan is an Islamic in nature and it came out in response to Hindu and British exploitation of Muslim’s rights in Subcontinent.</a:t>
            </a:r>
          </a:p>
          <a:p>
            <a:r>
              <a:rPr lang="en-US" dirty="0">
                <a:latin typeface="Arial Rounded MT Bold" panose="020F0704030504030204" pitchFamily="34" charset="0"/>
              </a:rPr>
              <a:t>The ideology of Pakistan emerged under the shadow of Islam and it can be understood through the philosophy of Islam. </a:t>
            </a:r>
          </a:p>
          <a:p>
            <a:r>
              <a:rPr lang="en-US" dirty="0">
                <a:latin typeface="Arial Rounded MT Bold" panose="020F0704030504030204" pitchFamily="34" charset="0"/>
              </a:rPr>
              <a:t>The famous Slogan, “Pakistan </a:t>
            </a:r>
            <a:r>
              <a:rPr lang="en-US" dirty="0" err="1">
                <a:latin typeface="Arial Rounded MT Bold" panose="020F0704030504030204" pitchFamily="34" charset="0"/>
              </a:rPr>
              <a:t>ka</a:t>
            </a:r>
            <a:r>
              <a:rPr lang="en-US" dirty="0">
                <a:latin typeface="Arial Rounded MT Bold" panose="020F0704030504030204" pitchFamily="34" charset="0"/>
              </a:rPr>
              <a:t> </a:t>
            </a:r>
            <a:r>
              <a:rPr lang="en-US" dirty="0" err="1">
                <a:latin typeface="Arial Rounded MT Bold" panose="020F0704030504030204" pitchFamily="34" charset="0"/>
              </a:rPr>
              <a:t>Matlab</a:t>
            </a:r>
            <a:r>
              <a:rPr lang="en-US" dirty="0">
                <a:latin typeface="Arial Rounded MT Bold" panose="020F0704030504030204" pitchFamily="34" charset="0"/>
              </a:rPr>
              <a:t> Kia </a:t>
            </a:r>
            <a:r>
              <a:rPr lang="en-US" dirty="0" err="1">
                <a:latin typeface="Arial Rounded MT Bold" panose="020F0704030504030204" pitchFamily="34" charset="0"/>
              </a:rPr>
              <a:t>Laa</a:t>
            </a:r>
            <a:r>
              <a:rPr lang="en-US" dirty="0">
                <a:latin typeface="Arial Rounded MT Bold" panose="020F0704030504030204" pitchFamily="34" charset="0"/>
              </a:rPr>
              <a:t> </a:t>
            </a:r>
            <a:r>
              <a:rPr lang="en-US" dirty="0" err="1">
                <a:latin typeface="Arial Rounded MT Bold" panose="020F0704030504030204" pitchFamily="34" charset="0"/>
              </a:rPr>
              <a:t>Illaha</a:t>
            </a:r>
            <a:r>
              <a:rPr lang="en-US" dirty="0">
                <a:latin typeface="Arial Rounded MT Bold" panose="020F0704030504030204" pitchFamily="34" charset="0"/>
              </a:rPr>
              <a:t> </a:t>
            </a:r>
            <a:r>
              <a:rPr lang="en-US" dirty="0" err="1">
                <a:latin typeface="Arial Rounded MT Bold" panose="020F0704030504030204" pitchFamily="34" charset="0"/>
              </a:rPr>
              <a:t>Illallah</a:t>
            </a:r>
            <a:r>
              <a:rPr lang="en-US" dirty="0">
                <a:latin typeface="Arial Rounded MT Bold" panose="020F0704030504030204" pitchFamily="34" charset="0"/>
              </a:rPr>
              <a:t>” </a:t>
            </a:r>
          </a:p>
          <a:p>
            <a:r>
              <a:rPr lang="en-US" dirty="0">
                <a:latin typeface="Arial Rounded MT Bold" panose="020F0704030504030204" pitchFamily="34" charset="0"/>
              </a:rPr>
              <a:t>The ideology of Pakistan erected on the bases of “Two Nation Theory” (Hindus and Muslims).</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219561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Two Nation Theory</a:t>
            </a:r>
          </a:p>
        </p:txBody>
      </p:sp>
      <p:sp>
        <p:nvSpPr>
          <p:cNvPr id="3" name="Content Placeholder 2"/>
          <p:cNvSpPr>
            <a:spLocks noGrp="1"/>
          </p:cNvSpPr>
          <p:nvPr>
            <p:ph idx="1"/>
          </p:nvPr>
        </p:nvSpPr>
        <p:spPr>
          <a:xfrm>
            <a:off x="958533" y="2092233"/>
            <a:ext cx="9905998" cy="3124201"/>
          </a:xfrm>
        </p:spPr>
        <p:txBody>
          <a:bodyPr>
            <a:normAutofit/>
          </a:bodyPr>
          <a:lstStyle/>
          <a:p>
            <a:r>
              <a:rPr lang="en-US" dirty="0">
                <a:latin typeface="Arial Rounded MT Bold" panose="020F0704030504030204" pitchFamily="34" charset="0"/>
              </a:rPr>
              <a:t>Hindus and Muslims were considered as the major nations in the Subcontinent. </a:t>
            </a:r>
          </a:p>
          <a:p>
            <a:r>
              <a:rPr lang="en-US" dirty="0">
                <a:latin typeface="Arial Rounded MT Bold" panose="020F0704030504030204" pitchFamily="34" charset="0"/>
              </a:rPr>
              <a:t>The Ideology of Pakistan was based on the fact that the Muslims were separate from all the nations having their own identity, culture, religion, custom, language etc.</a:t>
            </a:r>
          </a:p>
          <a:p>
            <a:r>
              <a:rPr lang="en-US" dirty="0">
                <a:latin typeface="Arial Rounded MT Bold" panose="020F0704030504030204" pitchFamily="34" charset="0"/>
              </a:rPr>
              <a:t>The British harsh policies against Muslims after the War of Independence and Hindus controversies against Muslims resulted in the emergence of “Two Nation theory”   </a:t>
            </a:r>
          </a:p>
          <a:p>
            <a:r>
              <a:rPr lang="en-US" dirty="0">
                <a:latin typeface="Arial Rounded MT Bold" panose="020F0704030504030204" pitchFamily="34" charset="0"/>
              </a:rPr>
              <a:t>It was impossible for Hindus to live according to the Islamic principles.</a:t>
            </a:r>
          </a:p>
        </p:txBody>
      </p:sp>
    </p:spTree>
    <p:extLst>
      <p:ext uri="{BB962C8B-B14F-4D97-AF65-F5344CB8AC3E}">
        <p14:creationId xmlns:p14="http://schemas.microsoft.com/office/powerpoint/2010/main" val="1322605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Purpose and Objectives of Two Nation Theory</a:t>
            </a:r>
          </a:p>
        </p:txBody>
      </p:sp>
      <p:sp>
        <p:nvSpPr>
          <p:cNvPr id="3" name="Content Placeholder 2"/>
          <p:cNvSpPr>
            <a:spLocks noGrp="1"/>
          </p:cNvSpPr>
          <p:nvPr>
            <p:ph idx="1"/>
          </p:nvPr>
        </p:nvSpPr>
        <p:spPr/>
        <p:txBody>
          <a:bodyPr>
            <a:normAutofit/>
          </a:bodyPr>
          <a:lstStyle/>
          <a:p>
            <a:r>
              <a:rPr lang="en-US" dirty="0">
                <a:latin typeface="Arial Rounded MT Bold" panose="020F0704030504030204" pitchFamily="34" charset="0"/>
              </a:rPr>
              <a:t>The Purpose of Two Nation Theory was to establish a separate homeland for the Muslims of Subcontinent where they could perform their religious practices and live in peace and prosperity. </a:t>
            </a:r>
          </a:p>
          <a:p>
            <a:r>
              <a:rPr lang="en-US" dirty="0">
                <a:latin typeface="Arial Rounded MT Bold" panose="020F0704030504030204" pitchFamily="34" charset="0"/>
              </a:rPr>
              <a:t>Enforcement of Sovereignty of Allah Almighty (We did not acquire Pakistan as a piece of land, we acquired a state where we can could introduce the Islamic principles, Jinnah).</a:t>
            </a:r>
          </a:p>
          <a:p>
            <a:r>
              <a:rPr lang="en-US" dirty="0">
                <a:latin typeface="Arial Rounded MT Bold" panose="020F0704030504030204" pitchFamily="34" charset="0"/>
              </a:rPr>
              <a:t>Introduction of Islamic Democracy</a:t>
            </a:r>
          </a:p>
          <a:p>
            <a:r>
              <a:rPr lang="en-US" dirty="0">
                <a:latin typeface="Arial Rounded MT Bold" panose="020F0704030504030204" pitchFamily="34" charset="0"/>
              </a:rPr>
              <a:t>Revival of Islam and its history</a:t>
            </a:r>
          </a:p>
          <a:p>
            <a:r>
              <a:rPr lang="en-US" dirty="0">
                <a:latin typeface="Arial Rounded MT Bold" panose="020F0704030504030204" pitchFamily="34" charset="0"/>
              </a:rPr>
              <a:t>Protection of Muslim culture and civilization.</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281280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Sir Syed Ahmad Khan</a:t>
            </a:r>
          </a:p>
        </p:txBody>
      </p:sp>
      <p:sp>
        <p:nvSpPr>
          <p:cNvPr id="3" name="Content Placeholder 2"/>
          <p:cNvSpPr>
            <a:spLocks noGrp="1"/>
          </p:cNvSpPr>
          <p:nvPr>
            <p:ph idx="1"/>
          </p:nvPr>
        </p:nvSpPr>
        <p:spPr>
          <a:xfrm>
            <a:off x="1023847" y="1974668"/>
            <a:ext cx="9905998" cy="3124201"/>
          </a:xfrm>
        </p:spPr>
        <p:txBody>
          <a:bodyPr/>
          <a:lstStyle/>
          <a:p>
            <a:r>
              <a:rPr lang="en-US" dirty="0">
                <a:latin typeface="Arial Rounded MT Bold" panose="020F0704030504030204" pitchFamily="34" charset="0"/>
              </a:rPr>
              <a:t>Political and religious leader</a:t>
            </a:r>
          </a:p>
          <a:p>
            <a:r>
              <a:rPr lang="en-US" dirty="0">
                <a:latin typeface="Arial Rounded MT Bold" panose="020F0704030504030204" pitchFamily="34" charset="0"/>
              </a:rPr>
              <a:t>He struggled to unite Hindus and Muslims but failed</a:t>
            </a:r>
          </a:p>
          <a:p>
            <a:r>
              <a:rPr lang="en-US" dirty="0">
                <a:latin typeface="Arial Rounded MT Bold" panose="020F0704030504030204" pitchFamily="34" charset="0"/>
              </a:rPr>
              <a:t>Played a role of bridge between British and Muslims</a:t>
            </a:r>
          </a:p>
          <a:p>
            <a:r>
              <a:rPr lang="en-US" dirty="0">
                <a:latin typeface="Arial Rounded MT Bold" panose="020F0704030504030204" pitchFamily="34" charset="0"/>
              </a:rPr>
              <a:t>Contribution in the field of Education</a:t>
            </a:r>
          </a:p>
          <a:p>
            <a:r>
              <a:rPr lang="en-US" dirty="0">
                <a:latin typeface="Arial Rounded MT Bold" panose="020F0704030504030204" pitchFamily="34" charset="0"/>
              </a:rPr>
              <a:t>Aligarh University</a:t>
            </a:r>
          </a:p>
          <a:p>
            <a:r>
              <a:rPr lang="en-US" dirty="0" err="1">
                <a:latin typeface="Arial Rounded MT Bold" panose="020F0704030504030204" pitchFamily="34" charset="0"/>
              </a:rPr>
              <a:t>Resala</a:t>
            </a:r>
            <a:r>
              <a:rPr lang="en-US" dirty="0">
                <a:latin typeface="Arial Rounded MT Bold" panose="020F0704030504030204" pitchFamily="34" charset="0"/>
              </a:rPr>
              <a:t>-i-</a:t>
            </a:r>
            <a:r>
              <a:rPr lang="en-US" dirty="0" err="1">
                <a:latin typeface="Arial Rounded MT Bold" panose="020F0704030504030204" pitchFamily="34" charset="0"/>
              </a:rPr>
              <a:t>Asbab</a:t>
            </a:r>
            <a:r>
              <a:rPr lang="en-US" dirty="0">
                <a:latin typeface="Arial Rounded MT Bold" panose="020F0704030504030204" pitchFamily="34" charset="0"/>
              </a:rPr>
              <a:t>-e-</a:t>
            </a:r>
            <a:r>
              <a:rPr lang="en-US" dirty="0" err="1">
                <a:latin typeface="Arial Rounded MT Bold" panose="020F0704030504030204" pitchFamily="34" charset="0"/>
              </a:rPr>
              <a:t>Baghwat</a:t>
            </a:r>
            <a:r>
              <a:rPr lang="en-US" dirty="0">
                <a:latin typeface="Arial Rounded MT Bold" panose="020F0704030504030204" pitchFamily="34" charset="0"/>
              </a:rPr>
              <a:t>-e-Hind</a:t>
            </a:r>
          </a:p>
        </p:txBody>
      </p:sp>
    </p:spTree>
    <p:extLst>
      <p:ext uri="{BB962C8B-B14F-4D97-AF65-F5344CB8AC3E}">
        <p14:creationId xmlns:p14="http://schemas.microsoft.com/office/powerpoint/2010/main" val="1715392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Rounded MT Bold" panose="020F0704030504030204" pitchFamily="34" charset="0"/>
              </a:rPr>
              <a:t>Allama</a:t>
            </a:r>
            <a:r>
              <a:rPr lang="en-US" dirty="0">
                <a:latin typeface="Arial Rounded MT Bold" panose="020F0704030504030204" pitchFamily="34" charset="0"/>
              </a:rPr>
              <a:t> Muhammad Iqbal</a:t>
            </a:r>
          </a:p>
        </p:txBody>
      </p:sp>
      <p:sp>
        <p:nvSpPr>
          <p:cNvPr id="3" name="Content Placeholder 2"/>
          <p:cNvSpPr>
            <a:spLocks noGrp="1"/>
          </p:cNvSpPr>
          <p:nvPr>
            <p:ph idx="1"/>
          </p:nvPr>
        </p:nvSpPr>
        <p:spPr/>
        <p:txBody>
          <a:bodyPr>
            <a:normAutofit/>
          </a:bodyPr>
          <a:lstStyle/>
          <a:p>
            <a:r>
              <a:rPr lang="en-US" dirty="0" err="1">
                <a:latin typeface="Arial Rounded MT Bold" panose="020F0704030504030204" pitchFamily="34" charset="0"/>
              </a:rPr>
              <a:t>Allama</a:t>
            </a:r>
            <a:r>
              <a:rPr lang="en-US" dirty="0">
                <a:latin typeface="Arial Rounded MT Bold" panose="020F0704030504030204" pitchFamily="34" charset="0"/>
              </a:rPr>
              <a:t> Iqbal was a Poet, thinker, writer and Philosopher.</a:t>
            </a:r>
          </a:p>
          <a:p>
            <a:r>
              <a:rPr lang="en-US" dirty="0">
                <a:latin typeface="Arial Rounded MT Bold" panose="020F0704030504030204" pitchFamily="34" charset="0"/>
              </a:rPr>
              <a:t>He had studied Islam deeply and did his PhD in Philosophy.</a:t>
            </a:r>
          </a:p>
          <a:p>
            <a:r>
              <a:rPr lang="en-US" dirty="0">
                <a:latin typeface="Arial Rounded MT Bold" panose="020F0704030504030204" pitchFamily="34" charset="0"/>
              </a:rPr>
              <a:t>He compared the Western and Islamic cultures in detail.</a:t>
            </a:r>
          </a:p>
          <a:p>
            <a:r>
              <a:rPr lang="en-US" dirty="0">
                <a:latin typeface="Arial Rounded MT Bold" panose="020F0704030504030204" pitchFamily="34" charset="0"/>
              </a:rPr>
              <a:t>He proved himself as a great companion of Quaid-I Azam.</a:t>
            </a:r>
          </a:p>
          <a:p>
            <a:r>
              <a:rPr lang="en-US" dirty="0">
                <a:latin typeface="Arial Rounded MT Bold" panose="020F0704030504030204" pitchFamily="34" charset="0"/>
              </a:rPr>
              <a:t>His poetry was based on Islamic teachings and principles.</a:t>
            </a:r>
          </a:p>
          <a:p>
            <a:r>
              <a:rPr lang="en-US" dirty="0">
                <a:latin typeface="Arial Rounded MT Bold" panose="020F0704030504030204" pitchFamily="34" charset="0"/>
              </a:rPr>
              <a:t>Iqbal rejected the idea of One Nation in India. He propagated the establishment of separate state for the Indian Muslims.</a:t>
            </a:r>
          </a:p>
          <a:p>
            <a:r>
              <a:rPr lang="en-US" dirty="0">
                <a:latin typeface="Arial Rounded MT Bold" panose="020F0704030504030204" pitchFamily="34" charset="0"/>
              </a:rPr>
              <a:t>He showed his love for a separate homeland through his poetry.</a:t>
            </a:r>
          </a:p>
          <a:p>
            <a:endParaRPr lang="en-US" dirty="0">
              <a:latin typeface="Arial Rounded MT Bold" panose="020F0704030504030204" pitchFamily="34" charset="0"/>
            </a:endParaRPr>
          </a:p>
          <a:p>
            <a:endParaRPr lang="en-US" dirty="0">
              <a:latin typeface="Arial Rounded MT Bold" panose="020F0704030504030204" pitchFamily="34" charset="0"/>
            </a:endParaRP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415019634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191</TotalTime>
  <Words>1222</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Rounded MT Bold</vt:lpstr>
      <vt:lpstr>Calibri</vt:lpstr>
      <vt:lpstr>Gill Sans MT</vt:lpstr>
      <vt:lpstr>Times New Roman</vt:lpstr>
      <vt:lpstr>Wingdings 2</vt:lpstr>
      <vt:lpstr>Dividend</vt:lpstr>
      <vt:lpstr>Two Nation Theory</vt:lpstr>
      <vt:lpstr>Introduction to Two Nation Theory</vt:lpstr>
      <vt:lpstr>History of Two Nation Theory</vt:lpstr>
      <vt:lpstr>Muslim Leaders and The Two Nation Theory</vt:lpstr>
      <vt:lpstr>Historians and The Two Nation Theory</vt:lpstr>
      <vt:lpstr>The Ideology of Pakistan</vt:lpstr>
      <vt:lpstr>What is the Meaning of ideology?</vt:lpstr>
      <vt:lpstr>Characteristics of Ideology</vt:lpstr>
      <vt:lpstr>How Ideology Emerges? </vt:lpstr>
      <vt:lpstr>Ideology of Pakistan</vt:lpstr>
      <vt:lpstr>Two Nation Theory</vt:lpstr>
      <vt:lpstr>Purpose and Objectives of Two Nation Theory</vt:lpstr>
      <vt:lpstr>Sir Syed Ahmad Khan</vt:lpstr>
      <vt:lpstr>Allama Muhammad Iqbal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Nation Theory</dc:title>
  <dc:creator>Hafiz Computer CC</dc:creator>
  <cp:lastModifiedBy>SKD</cp:lastModifiedBy>
  <cp:revision>10</cp:revision>
  <dcterms:created xsi:type="dcterms:W3CDTF">2021-11-02T05:14:25Z</dcterms:created>
  <dcterms:modified xsi:type="dcterms:W3CDTF">2025-09-07T09:37:30Z</dcterms:modified>
</cp:coreProperties>
</file>