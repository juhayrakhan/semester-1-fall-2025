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86" r:id="rId3"/>
    <p:sldId id="257" r:id="rId4"/>
    <p:sldId id="259" r:id="rId5"/>
    <p:sldId id="258" r:id="rId6"/>
    <p:sldId id="260" r:id="rId7"/>
    <p:sldId id="261" r:id="rId8"/>
    <p:sldId id="262" r:id="rId9"/>
    <p:sldId id="287" r:id="rId10"/>
    <p:sldId id="272" r:id="rId11"/>
  </p:sldIdLst>
  <p:sldSz cx="18288000" cy="10287000"/>
  <p:notesSz cx="6858000" cy="9144000"/>
  <p:embeddedFontLst>
    <p:embeddedFont>
      <p:font typeface="Agrandir" panose="020B0604020202020204" charset="0"/>
      <p:regular r:id="rId13"/>
    </p:embeddedFont>
    <p:embeddedFont>
      <p:font typeface="Agrandir Bold" panose="020B0604020202020204" charset="0"/>
      <p:regular r:id="rId14"/>
    </p:embeddedFont>
    <p:embeddedFont>
      <p:font typeface="Agrandir Narrow Heavy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1DE"/>
    <a:srgbClr val="F7D1EF"/>
    <a:srgbClr val="D2E1EE"/>
    <a:srgbClr val="FEBEDC"/>
    <a:srgbClr val="FFDBA7"/>
    <a:srgbClr val="F0F8F2"/>
    <a:srgbClr val="F9F4F7"/>
    <a:srgbClr val="FAF0F7"/>
    <a:srgbClr val="E5EEF5"/>
    <a:srgbClr val="FEF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23D3D-72F0-4330-B895-5293A86852CB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5D557-6C53-4C27-9001-92002064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0CFF4-A758-BE96-B8B3-A8DC72F44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31B40-480E-93D0-0012-B26A16E7A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3210-F192-2C31-D4B4-A96D2D457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1B841-F6DA-9D32-73B5-4D2824939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5D557-6C53-4C27-9001-92002064E0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11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5D557-6C53-4C27-9001-92002064E0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4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E5EEF5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57782" y="6697551"/>
            <a:ext cx="3508322" cy="3412641"/>
          </a:xfrm>
          <a:custGeom>
            <a:avLst/>
            <a:gdLst/>
            <a:ahLst/>
            <a:cxnLst/>
            <a:rect l="l" t="t" r="r" b="b"/>
            <a:pathLst>
              <a:path w="3508322" h="3412641">
                <a:moveTo>
                  <a:pt x="0" y="0"/>
                </a:moveTo>
                <a:lnTo>
                  <a:pt x="3508322" y="0"/>
                </a:lnTo>
                <a:lnTo>
                  <a:pt x="3508322" y="3412640"/>
                </a:lnTo>
                <a:lnTo>
                  <a:pt x="0" y="341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402081" y="1028700"/>
            <a:ext cx="1922609" cy="1090644"/>
          </a:xfrm>
          <a:custGeom>
            <a:avLst/>
            <a:gdLst/>
            <a:ahLst/>
            <a:cxnLst/>
            <a:rect l="l" t="t" r="r" b="b"/>
            <a:pathLst>
              <a:path w="1922609" h="1090644">
                <a:moveTo>
                  <a:pt x="0" y="0"/>
                </a:moveTo>
                <a:lnTo>
                  <a:pt x="1922609" y="0"/>
                </a:lnTo>
                <a:lnTo>
                  <a:pt x="1922609" y="1090644"/>
                </a:lnTo>
                <a:lnTo>
                  <a:pt x="0" y="10906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895600" y="4641166"/>
            <a:ext cx="13715999" cy="1981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436"/>
              </a:lnSpc>
            </a:pPr>
            <a:r>
              <a:rPr lang="en-US" sz="11740" b="1" dirty="0">
                <a:solidFill>
                  <a:srgbClr val="2B3244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Thinking Patterns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95967" y="1781570"/>
            <a:ext cx="9853380" cy="4113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4"/>
              </a:lnSpc>
            </a:pPr>
            <a:r>
              <a:rPr lang="en-US" sz="7817" b="1" i="1" dirty="0">
                <a:solidFill>
                  <a:srgbClr val="227DA4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Solving a Problem through different</a:t>
            </a:r>
          </a:p>
          <a:p>
            <a:pPr algn="ctr">
              <a:lnSpc>
                <a:spcPts val="10944"/>
              </a:lnSpc>
            </a:pPr>
            <a:endParaRPr lang="en-US" sz="7817" b="1" dirty="0">
              <a:solidFill>
                <a:srgbClr val="227DA4"/>
              </a:solidFill>
              <a:latin typeface="Agrandir Narrow Heavy"/>
              <a:ea typeface="Agrandir Narrow Heavy"/>
              <a:cs typeface="Agrandir Narrow Heavy"/>
              <a:sym typeface="Agrandir Narrow Heavy"/>
            </a:endParaRPr>
          </a:p>
        </p:txBody>
      </p:sp>
      <p:sp>
        <p:nvSpPr>
          <p:cNvPr id="10" name="Freeform 10"/>
          <p:cNvSpPr/>
          <p:nvPr/>
        </p:nvSpPr>
        <p:spPr>
          <a:xfrm rot="-332062">
            <a:off x="2698836" y="2039289"/>
            <a:ext cx="1801262" cy="1835208"/>
          </a:xfrm>
          <a:custGeom>
            <a:avLst/>
            <a:gdLst/>
            <a:ahLst/>
            <a:cxnLst/>
            <a:rect l="l" t="t" r="r" b="b"/>
            <a:pathLst>
              <a:path w="1801262" h="1835208">
                <a:moveTo>
                  <a:pt x="0" y="0"/>
                </a:moveTo>
                <a:lnTo>
                  <a:pt x="1801262" y="0"/>
                </a:lnTo>
                <a:lnTo>
                  <a:pt x="1801262" y="1835209"/>
                </a:lnTo>
                <a:lnTo>
                  <a:pt x="0" y="1835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E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84A0C-D78E-996C-9935-BDB5B8B4F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0">
            <a:extLst>
              <a:ext uri="{FF2B5EF4-FFF2-40B4-BE49-F238E27FC236}">
                <a16:creationId xmlns:a16="http://schemas.microsoft.com/office/drawing/2014/main" id="{ECA85C03-72EE-895C-7A4F-203A52BF567F}"/>
              </a:ext>
            </a:extLst>
          </p:cNvPr>
          <p:cNvGrpSpPr/>
          <p:nvPr/>
        </p:nvGrpSpPr>
        <p:grpSpPr>
          <a:xfrm>
            <a:off x="1981200" y="5192914"/>
            <a:ext cx="15199070" cy="1094229"/>
            <a:chOff x="0" y="0"/>
            <a:chExt cx="6609980" cy="1031175"/>
          </a:xfrm>
        </p:grpSpPr>
        <p:sp>
          <p:nvSpPr>
            <p:cNvPr id="6" name="Freeform 21">
              <a:extLst>
                <a:ext uri="{FF2B5EF4-FFF2-40B4-BE49-F238E27FC236}">
                  <a16:creationId xmlns:a16="http://schemas.microsoft.com/office/drawing/2014/main" id="{762F246D-17F1-BD56-6941-F4CFDA883DD1}"/>
                </a:ext>
              </a:extLst>
            </p:cNvPr>
            <p:cNvSpPr/>
            <p:nvPr/>
          </p:nvSpPr>
          <p:spPr>
            <a:xfrm>
              <a:off x="31750" y="31750"/>
              <a:ext cx="6546479" cy="967675"/>
            </a:xfrm>
            <a:custGeom>
              <a:avLst/>
              <a:gdLst/>
              <a:ahLst/>
              <a:cxnLst/>
              <a:rect l="l" t="t" r="r" b="b"/>
              <a:pathLst>
                <a:path w="6546479" h="967675">
                  <a:moveTo>
                    <a:pt x="6453770" y="967675"/>
                  </a:moveTo>
                  <a:lnTo>
                    <a:pt x="92710" y="967675"/>
                  </a:lnTo>
                  <a:cubicBezTo>
                    <a:pt x="41910" y="967675"/>
                    <a:pt x="0" y="925765"/>
                    <a:pt x="0" y="87496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452500" y="0"/>
                  </a:lnTo>
                  <a:cubicBezTo>
                    <a:pt x="6503300" y="0"/>
                    <a:pt x="6545210" y="41910"/>
                    <a:pt x="6545210" y="92710"/>
                  </a:cubicBezTo>
                  <a:lnTo>
                    <a:pt x="6545210" y="873695"/>
                  </a:lnTo>
                  <a:cubicBezTo>
                    <a:pt x="6546479" y="925765"/>
                    <a:pt x="6504570" y="967675"/>
                    <a:pt x="6453770" y="967675"/>
                  </a:cubicBezTo>
                  <a:close/>
                </a:path>
              </a:pathLst>
            </a:custGeom>
            <a:solidFill>
              <a:srgbClr val="F9C041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7B738B2D-13BA-913A-C966-BCE5B17E5DAA}"/>
                </a:ext>
              </a:extLst>
            </p:cNvPr>
            <p:cNvSpPr/>
            <p:nvPr/>
          </p:nvSpPr>
          <p:spPr>
            <a:xfrm>
              <a:off x="0" y="0"/>
              <a:ext cx="6609980" cy="1031175"/>
            </a:xfrm>
            <a:custGeom>
              <a:avLst/>
              <a:gdLst/>
              <a:ahLst/>
              <a:cxnLst/>
              <a:rect l="l" t="t" r="r" b="b"/>
              <a:pathLst>
                <a:path w="6609980" h="1031175">
                  <a:moveTo>
                    <a:pt x="6485520" y="59690"/>
                  </a:moveTo>
                  <a:cubicBezTo>
                    <a:pt x="6521079" y="59690"/>
                    <a:pt x="6550290" y="88900"/>
                    <a:pt x="6550290" y="124460"/>
                  </a:cubicBezTo>
                  <a:lnTo>
                    <a:pt x="6550290" y="906715"/>
                  </a:lnTo>
                  <a:cubicBezTo>
                    <a:pt x="6550290" y="942275"/>
                    <a:pt x="6521079" y="971485"/>
                    <a:pt x="6485520" y="971485"/>
                  </a:cubicBezTo>
                  <a:lnTo>
                    <a:pt x="124460" y="971485"/>
                  </a:lnTo>
                  <a:cubicBezTo>
                    <a:pt x="88900" y="971485"/>
                    <a:pt x="59690" y="942275"/>
                    <a:pt x="59690" y="90671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485520" y="59690"/>
                  </a:lnTo>
                  <a:moveTo>
                    <a:pt x="64855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6715"/>
                  </a:lnTo>
                  <a:cubicBezTo>
                    <a:pt x="0" y="975295"/>
                    <a:pt x="55880" y="1031175"/>
                    <a:pt x="124460" y="1031175"/>
                  </a:cubicBezTo>
                  <a:lnTo>
                    <a:pt x="6485520" y="1031175"/>
                  </a:lnTo>
                  <a:cubicBezTo>
                    <a:pt x="6554100" y="1031175"/>
                    <a:pt x="6609980" y="975295"/>
                    <a:pt x="6609980" y="906715"/>
                  </a:cubicBezTo>
                  <a:lnTo>
                    <a:pt x="6609980" y="124460"/>
                  </a:lnTo>
                  <a:cubicBezTo>
                    <a:pt x="6609980" y="55880"/>
                    <a:pt x="6554100" y="0"/>
                    <a:pt x="648552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3">
            <a:extLst>
              <a:ext uri="{FF2B5EF4-FFF2-40B4-BE49-F238E27FC236}">
                <a16:creationId xmlns:a16="http://schemas.microsoft.com/office/drawing/2014/main" id="{30063EA4-B673-D836-DC29-59D021AC4AE1}"/>
              </a:ext>
            </a:extLst>
          </p:cNvPr>
          <p:cNvSpPr txBox="1"/>
          <p:nvPr/>
        </p:nvSpPr>
        <p:spPr>
          <a:xfrm>
            <a:off x="-1066800" y="2781300"/>
            <a:ext cx="13487400" cy="1341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9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800" dirty="0">
                <a:solidFill>
                  <a:srgbClr val="B91646"/>
                </a:solidFill>
                <a:latin typeface="Agrandir Narrow Heavy" panose="020B0604020202020204" charset="0"/>
                <a:ea typeface="Brittany"/>
                <a:cs typeface="Brittany"/>
                <a:sym typeface="Brittany"/>
              </a:rPr>
              <a:t>Problem:</a:t>
            </a:r>
            <a:endParaRPr kumimoji="0" lang="en-US" sz="13800" b="0" i="0" u="none" strike="noStrike" kern="1200" cap="none" spc="0" normalizeH="0" baseline="0" noProof="0" dirty="0">
              <a:ln>
                <a:noFill/>
              </a:ln>
              <a:solidFill>
                <a:srgbClr val="B91646"/>
              </a:solidFill>
              <a:effectLst/>
              <a:uLnTx/>
              <a:uFillTx/>
              <a:latin typeface="Agrandir Narrow Heavy" panose="020B0604020202020204" charset="0"/>
              <a:ea typeface="Brittany"/>
              <a:cs typeface="Brittany"/>
              <a:sym typeface="Brittany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7866A65-8E7E-B8D0-7F2C-EDF7EE733E9D}"/>
              </a:ext>
            </a:extLst>
          </p:cNvPr>
          <p:cNvSpPr txBox="1"/>
          <p:nvPr/>
        </p:nvSpPr>
        <p:spPr>
          <a:xfrm>
            <a:off x="2505540" y="5524500"/>
            <a:ext cx="13276920" cy="48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839"/>
              </a:lnSpc>
              <a:defRPr/>
            </a:pPr>
            <a:r>
              <a:rPr lang="en-US" sz="3600" i="1" dirty="0">
                <a:solidFill>
                  <a:srgbClr val="000000"/>
                </a:solidFill>
                <a:latin typeface="Agrandir Bold" panose="020B0604020202020204" charset="0"/>
                <a:ea typeface="Poppins"/>
                <a:cs typeface="Poppins"/>
                <a:sym typeface="Poppins"/>
              </a:rPr>
              <a:t>“How can we reduce the use of plastic in our daily lives?”</a:t>
            </a: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grandir Bold" panose="020B0604020202020204" charset="0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6149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solidFill>
              <a:srgbClr val="FF914D">
                <a:alpha val="1098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8567" y="828581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FFA2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A2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917236"/>
            <a:ext cx="2576650" cy="25766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559422" y="7083591"/>
            <a:ext cx="15234710" cy="2374162"/>
            <a:chOff x="0" y="0"/>
            <a:chExt cx="4129310" cy="6435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29310" cy="643507"/>
            </a:xfrm>
            <a:custGeom>
              <a:avLst/>
              <a:gdLst/>
              <a:ahLst/>
              <a:cxnLst/>
              <a:rect l="l" t="t" r="r" b="b"/>
              <a:pathLst>
                <a:path w="4129310" h="643507">
                  <a:moveTo>
                    <a:pt x="0" y="0"/>
                  </a:moveTo>
                  <a:lnTo>
                    <a:pt x="4129310" y="0"/>
                  </a:lnTo>
                  <a:lnTo>
                    <a:pt x="4129310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FCB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129310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147099" y="1007478"/>
            <a:ext cx="7359101" cy="880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400" b="1" dirty="0">
                <a:solidFill>
                  <a:schemeClr val="bg1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Abstract Thinking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95283" y="7686044"/>
            <a:ext cx="11713707" cy="859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“Plastic is a symbol of wasteful consumer culture. To reduce it, we must shift our mindset from convenience to sustainability.”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31777" y="4505254"/>
            <a:ext cx="11702501" cy="1227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 panose="020B0604020202020204" charset="0"/>
                <a:ea typeface="Agrandir Bold"/>
                <a:cs typeface="Agrandir Bold"/>
                <a:sym typeface="Agrandir Bold"/>
              </a:rPr>
              <a:t>Look at the big picture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 panose="020B0604020202020204" charset="0"/>
                <a:ea typeface="Agrandir Bold"/>
                <a:cs typeface="Agrandir Bold"/>
                <a:sym typeface="Agrandir Bold"/>
              </a:rPr>
              <a:t>Think in ideas/generalizations, not just facts.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49339" y="6711040"/>
            <a:ext cx="1690855" cy="169085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B7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40218" y="6905411"/>
            <a:ext cx="1309097" cy="1309097"/>
            <a:chOff x="0" y="0"/>
            <a:chExt cx="1745463" cy="174546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Box 25">
            <a:extLst>
              <a:ext uri="{FF2B5EF4-FFF2-40B4-BE49-F238E27FC236}">
                <a16:creationId xmlns:a16="http://schemas.microsoft.com/office/drawing/2014/main" id="{8F370EF8-843E-A203-B717-22C50E7C4B7C}"/>
              </a:ext>
            </a:extLst>
          </p:cNvPr>
          <p:cNvSpPr txBox="1"/>
          <p:nvPr/>
        </p:nvSpPr>
        <p:spPr>
          <a:xfrm>
            <a:off x="1885536" y="1990986"/>
            <a:ext cx="1184708" cy="1098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11500" b="1" dirty="0"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1</a:t>
            </a:r>
          </a:p>
        </p:txBody>
      </p:sp>
      <p:grpSp>
        <p:nvGrpSpPr>
          <p:cNvPr id="14" name="Group 15">
            <a:extLst>
              <a:ext uri="{FF2B5EF4-FFF2-40B4-BE49-F238E27FC236}">
                <a16:creationId xmlns:a16="http://schemas.microsoft.com/office/drawing/2014/main" id="{FD0C9E4A-0CD7-EC1C-5EB4-0B9042CDF4D3}"/>
              </a:ext>
            </a:extLst>
          </p:cNvPr>
          <p:cNvGrpSpPr/>
          <p:nvPr/>
        </p:nvGrpSpPr>
        <p:grpSpPr>
          <a:xfrm>
            <a:off x="6012850" y="2615314"/>
            <a:ext cx="6477000" cy="747513"/>
            <a:chOff x="0" y="0"/>
            <a:chExt cx="4129310" cy="643507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AF8B1B9-8DA2-E843-3943-A0B9EE3F704C}"/>
                </a:ext>
              </a:extLst>
            </p:cNvPr>
            <p:cNvSpPr/>
            <p:nvPr/>
          </p:nvSpPr>
          <p:spPr>
            <a:xfrm>
              <a:off x="0" y="0"/>
              <a:ext cx="4129310" cy="643507"/>
            </a:xfrm>
            <a:custGeom>
              <a:avLst/>
              <a:gdLst/>
              <a:ahLst/>
              <a:cxnLst/>
              <a:rect l="l" t="t" r="r" b="b"/>
              <a:pathLst>
                <a:path w="4129310" h="643507">
                  <a:moveTo>
                    <a:pt x="0" y="0"/>
                  </a:moveTo>
                  <a:lnTo>
                    <a:pt x="4129310" y="0"/>
                  </a:lnTo>
                  <a:lnTo>
                    <a:pt x="4129310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FDBA7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D208D620-3E30-2C50-04BF-4DBC0BF9D192}"/>
                </a:ext>
              </a:extLst>
            </p:cNvPr>
            <p:cNvSpPr txBox="1"/>
            <p:nvPr/>
          </p:nvSpPr>
          <p:spPr>
            <a:xfrm>
              <a:off x="0" y="-9525"/>
              <a:ext cx="4129310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20" name="TextBox 28">
            <a:extLst>
              <a:ext uri="{FF2B5EF4-FFF2-40B4-BE49-F238E27FC236}">
                <a16:creationId xmlns:a16="http://schemas.microsoft.com/office/drawing/2014/main" id="{F118424C-8E1C-3349-C587-98C0316C62DE}"/>
              </a:ext>
            </a:extLst>
          </p:cNvPr>
          <p:cNvSpPr txBox="1"/>
          <p:nvPr/>
        </p:nvSpPr>
        <p:spPr>
          <a:xfrm>
            <a:off x="5716501" y="2795815"/>
            <a:ext cx="6854997" cy="442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Think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beyond</a:t>
            </a: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Facts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E5EEF5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8567" y="837299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3981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81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796456"/>
            <a:ext cx="2576650" cy="2697431"/>
            <a:chOff x="0" y="-38100"/>
            <a:chExt cx="812800" cy="850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8567" y="6221940"/>
            <a:ext cx="15085566" cy="3235813"/>
            <a:chOff x="0" y="0"/>
            <a:chExt cx="4088884" cy="8770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8885" cy="877055"/>
            </a:xfrm>
            <a:custGeom>
              <a:avLst/>
              <a:gdLst/>
              <a:ahLst/>
              <a:cxnLst/>
              <a:rect l="l" t="t" r="r" b="b"/>
              <a:pathLst>
                <a:path w="4088885" h="877055">
                  <a:moveTo>
                    <a:pt x="0" y="0"/>
                  </a:moveTo>
                  <a:lnTo>
                    <a:pt x="4088885" y="0"/>
                  </a:lnTo>
                  <a:lnTo>
                    <a:pt x="4088885" y="877055"/>
                  </a:lnTo>
                  <a:lnTo>
                    <a:pt x="0" y="877055"/>
                  </a:lnTo>
                  <a:close/>
                </a:path>
              </a:pathLst>
            </a:custGeom>
            <a:solidFill>
              <a:srgbClr val="BED4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88884" cy="886580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65463" y="5805412"/>
            <a:ext cx="1690855" cy="169085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D4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6342" y="5999783"/>
            <a:ext cx="1309097" cy="1309097"/>
            <a:chOff x="0" y="0"/>
            <a:chExt cx="1745463" cy="174546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230314" y="7308880"/>
            <a:ext cx="12543086" cy="12954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59080" lvl="1" algn="just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 panose="020B0604020202020204" charset="0"/>
                <a:ea typeface="Agrandir"/>
                <a:cs typeface="Agrandir"/>
                <a:sym typeface="Agrandir"/>
              </a:rPr>
              <a:t>“We could use cloth bags, metal straws, refill stations, biodegradable packaging, or even invent edible containers.”</a:t>
            </a:r>
          </a:p>
          <a:p>
            <a:pPr marL="259080" lvl="1" algn="just">
              <a:lnSpc>
                <a:spcPts val="3359"/>
              </a:lnSpc>
            </a:pPr>
            <a:endParaRPr lang="en-US" sz="2800" i="1" dirty="0">
              <a:solidFill>
                <a:srgbClr val="000000"/>
              </a:solidFill>
              <a:latin typeface="Agrandir" panose="020B0604020202020204" charset="0"/>
              <a:ea typeface="Agrandir"/>
              <a:cs typeface="Agrandir"/>
              <a:sym typeface="Agrandi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176563" y="4077850"/>
            <a:ext cx="10377637" cy="90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Generate as many possible ideas/solutions as you can</a:t>
            </a:r>
          </a:p>
          <a:p>
            <a:pPr marL="457200" indent="-457200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Use freewriting, mind maps, and associations.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76563" y="952845"/>
            <a:ext cx="11007512" cy="8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Divergent Thinking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CD73FA1B-DB36-5D3D-AA78-5BBDE12F52E5}"/>
              </a:ext>
            </a:extLst>
          </p:cNvPr>
          <p:cNvSpPr txBox="1"/>
          <p:nvPr/>
        </p:nvSpPr>
        <p:spPr>
          <a:xfrm>
            <a:off x="1835464" y="2247900"/>
            <a:ext cx="3223732" cy="80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</a:t>
            </a:r>
          </a:p>
        </p:txBody>
      </p:sp>
      <p:grpSp>
        <p:nvGrpSpPr>
          <p:cNvPr id="25" name="Group 14">
            <a:extLst>
              <a:ext uri="{FF2B5EF4-FFF2-40B4-BE49-F238E27FC236}">
                <a16:creationId xmlns:a16="http://schemas.microsoft.com/office/drawing/2014/main" id="{BF11C79F-1836-43FA-408C-E111E5FF537E}"/>
              </a:ext>
            </a:extLst>
          </p:cNvPr>
          <p:cNvGrpSpPr/>
          <p:nvPr/>
        </p:nvGrpSpPr>
        <p:grpSpPr>
          <a:xfrm>
            <a:off x="5448045" y="2410674"/>
            <a:ext cx="7048756" cy="875585"/>
            <a:chOff x="0" y="0"/>
            <a:chExt cx="4088884" cy="877055"/>
          </a:xfrm>
        </p:grpSpPr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EE03DEE6-D837-AC64-E8F7-A6AAA865BA0A}"/>
                </a:ext>
              </a:extLst>
            </p:cNvPr>
            <p:cNvSpPr/>
            <p:nvPr/>
          </p:nvSpPr>
          <p:spPr>
            <a:xfrm>
              <a:off x="0" y="0"/>
              <a:ext cx="4088885" cy="877055"/>
            </a:xfrm>
            <a:custGeom>
              <a:avLst/>
              <a:gdLst/>
              <a:ahLst/>
              <a:cxnLst/>
              <a:rect l="l" t="t" r="r" b="b"/>
              <a:pathLst>
                <a:path w="4088885" h="877055">
                  <a:moveTo>
                    <a:pt x="0" y="0"/>
                  </a:moveTo>
                  <a:lnTo>
                    <a:pt x="4088885" y="0"/>
                  </a:lnTo>
                  <a:lnTo>
                    <a:pt x="4088885" y="877055"/>
                  </a:lnTo>
                  <a:lnTo>
                    <a:pt x="0" y="877055"/>
                  </a:lnTo>
                  <a:close/>
                </a:path>
              </a:pathLst>
            </a:custGeom>
            <a:solidFill>
              <a:srgbClr val="D2E1E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0923F6CF-3ABD-3B18-E455-8A89DDD2030A}"/>
                </a:ext>
              </a:extLst>
            </p:cNvPr>
            <p:cNvSpPr txBox="1"/>
            <p:nvPr/>
          </p:nvSpPr>
          <p:spPr>
            <a:xfrm>
              <a:off x="0" y="-9525"/>
              <a:ext cx="4088884" cy="886580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391400" y="2678688"/>
            <a:ext cx="1037763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Explore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all</a:t>
            </a: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options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FEF0F6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8567" y="804020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F474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4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917236"/>
            <a:ext cx="2576650" cy="25766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8567" y="7083591"/>
            <a:ext cx="15085566" cy="2374162"/>
            <a:chOff x="0" y="0"/>
            <a:chExt cx="4088884" cy="6435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DA3C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840194" y="7789234"/>
            <a:ext cx="13314206" cy="859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“The best way is to ban single-use plastics and replace them with reusable bags.”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9339" y="6711040"/>
            <a:ext cx="1690855" cy="169085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A3C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0218" y="6905411"/>
            <a:ext cx="1309097" cy="1309097"/>
            <a:chOff x="0" y="0"/>
            <a:chExt cx="1745463" cy="174546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188769" y="4468250"/>
            <a:ext cx="9908231" cy="1873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Seek one correct solution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Weigh the pros and cons and choose the most logical option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31119" y="979004"/>
            <a:ext cx="7379881" cy="880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Convergent Thinking</a:t>
            </a: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A03E53D9-9C5A-F2A4-F11C-18723FE5EB62}"/>
              </a:ext>
            </a:extLst>
          </p:cNvPr>
          <p:cNvSpPr txBox="1"/>
          <p:nvPr/>
        </p:nvSpPr>
        <p:spPr>
          <a:xfrm>
            <a:off x="1844528" y="1848998"/>
            <a:ext cx="2611684" cy="1098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11500" b="1" dirty="0"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3</a:t>
            </a:r>
          </a:p>
        </p:txBody>
      </p:sp>
      <p:grpSp>
        <p:nvGrpSpPr>
          <p:cNvPr id="26" name="Group 14">
            <a:extLst>
              <a:ext uri="{FF2B5EF4-FFF2-40B4-BE49-F238E27FC236}">
                <a16:creationId xmlns:a16="http://schemas.microsoft.com/office/drawing/2014/main" id="{47801FEC-2680-57E5-4776-40E3E49021D8}"/>
              </a:ext>
            </a:extLst>
          </p:cNvPr>
          <p:cNvGrpSpPr/>
          <p:nvPr/>
        </p:nvGrpSpPr>
        <p:grpSpPr>
          <a:xfrm>
            <a:off x="6067253" y="2367235"/>
            <a:ext cx="6368194" cy="1032848"/>
            <a:chOff x="0" y="0"/>
            <a:chExt cx="4088884" cy="643507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E3B75198-BD32-5D0E-EDD1-68BBD4AEC387}"/>
                </a:ext>
              </a:extLst>
            </p:cNvPr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EBED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3CDF6CE1-AAC3-F622-65CD-0E39EA48D2AE}"/>
                </a:ext>
              </a:extLst>
            </p:cNvPr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349656" y="2668234"/>
            <a:ext cx="9126473" cy="429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Find the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Best</a:t>
            </a: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FAF0F7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9402" y="850561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CE7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7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917236"/>
            <a:ext cx="2576650" cy="25766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8567" y="7083591"/>
            <a:ext cx="15085566" cy="2374162"/>
            <a:chOff x="0" y="0"/>
            <a:chExt cx="4088884" cy="6435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4C1E9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9339" y="6711040"/>
            <a:ext cx="1690855" cy="169085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C1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40218" y="6905411"/>
            <a:ext cx="1309097" cy="1309097"/>
            <a:chOff x="0" y="0"/>
            <a:chExt cx="1745463" cy="174546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/>
          <p:cNvSpPr/>
          <p:nvPr/>
        </p:nvSpPr>
        <p:spPr>
          <a:xfrm rot="18790915">
            <a:off x="16286087" y="3297812"/>
            <a:ext cx="837763" cy="1419937"/>
          </a:xfrm>
          <a:custGeom>
            <a:avLst/>
            <a:gdLst/>
            <a:ahLst/>
            <a:cxnLst/>
            <a:rect l="l" t="t" r="r" b="b"/>
            <a:pathLst>
              <a:path w="837763" h="1419937">
                <a:moveTo>
                  <a:pt x="0" y="0"/>
                </a:moveTo>
                <a:lnTo>
                  <a:pt x="837762" y="0"/>
                </a:lnTo>
                <a:lnTo>
                  <a:pt x="837762" y="1419937"/>
                </a:lnTo>
                <a:lnTo>
                  <a:pt x="0" y="1419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4113824" y="4047331"/>
            <a:ext cx="11247896" cy="236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Don’t take things at face value. Ask questions, verify facts.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Weigh options, look at them from different angles, and be objective.</a:t>
            </a:r>
            <a:endParaRPr lang="en-US" sz="26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spcBef>
                <a:spcPct val="0"/>
              </a:spcBef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	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97057" y="984328"/>
            <a:ext cx="8687275" cy="8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Critical Thinking</a:t>
            </a:r>
          </a:p>
        </p:txBody>
      </p:sp>
      <p:sp>
        <p:nvSpPr>
          <p:cNvPr id="37" name="TextBox 29">
            <a:extLst>
              <a:ext uri="{FF2B5EF4-FFF2-40B4-BE49-F238E27FC236}">
                <a16:creationId xmlns:a16="http://schemas.microsoft.com/office/drawing/2014/main" id="{3A5B2D13-344D-FB98-374E-5E7D7841C22F}"/>
              </a:ext>
            </a:extLst>
          </p:cNvPr>
          <p:cNvSpPr txBox="1"/>
          <p:nvPr/>
        </p:nvSpPr>
        <p:spPr>
          <a:xfrm>
            <a:off x="1805468" y="2198073"/>
            <a:ext cx="3223732" cy="80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4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FF54483D-FE4B-0028-4C62-DC50EC35B9C1}"/>
              </a:ext>
            </a:extLst>
          </p:cNvPr>
          <p:cNvSpPr txBox="1"/>
          <p:nvPr/>
        </p:nvSpPr>
        <p:spPr>
          <a:xfrm>
            <a:off x="2804404" y="7734217"/>
            <a:ext cx="13684497" cy="1295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“Paper bags use trees, cloth bags need water for production, and banning plastics might hurt industries. The solution must balance environment and economy.”</a:t>
            </a:r>
            <a:endParaRPr lang="en-US" sz="2400" i="1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7" name="Group 14">
            <a:extLst>
              <a:ext uri="{FF2B5EF4-FFF2-40B4-BE49-F238E27FC236}">
                <a16:creationId xmlns:a16="http://schemas.microsoft.com/office/drawing/2014/main" id="{6F9E8F86-8ED9-8510-22E2-0FC2E34857EB}"/>
              </a:ext>
            </a:extLst>
          </p:cNvPr>
          <p:cNvGrpSpPr/>
          <p:nvPr/>
        </p:nvGrpSpPr>
        <p:grpSpPr>
          <a:xfrm>
            <a:off x="6106599" y="2547491"/>
            <a:ext cx="6031979" cy="897398"/>
            <a:chOff x="0" y="0"/>
            <a:chExt cx="4088884" cy="643507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D9D5399F-413A-63D5-3F34-AF37FD13BABF}"/>
                </a:ext>
              </a:extLst>
            </p:cNvPr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F7D1E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69E6AC3E-E9B1-719C-B074-26A7B05E931A}"/>
                </a:ext>
              </a:extLst>
            </p:cNvPr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150062" y="2784962"/>
            <a:ext cx="11786794" cy="461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Question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Everything</a:t>
            </a:r>
            <a:endParaRPr lang="en-US" sz="2800" b="1" i="1" dirty="0">
              <a:solidFill>
                <a:srgbClr val="000000"/>
              </a:solidFill>
              <a:highlight>
                <a:srgbClr val="FFFF00"/>
              </a:highlight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F9F4F7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8567" y="841635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431C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1C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796456"/>
            <a:ext cx="2576650" cy="2697431"/>
            <a:chOff x="0" y="-38100"/>
            <a:chExt cx="812800" cy="8509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8567" y="6711040"/>
            <a:ext cx="15085566" cy="3246553"/>
            <a:chOff x="0" y="0"/>
            <a:chExt cx="4088884" cy="8799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8885" cy="879966"/>
            </a:xfrm>
            <a:custGeom>
              <a:avLst/>
              <a:gdLst/>
              <a:ahLst/>
              <a:cxnLst/>
              <a:rect l="l" t="t" r="r" b="b"/>
              <a:pathLst>
                <a:path w="4088885" h="879966">
                  <a:moveTo>
                    <a:pt x="0" y="0"/>
                  </a:moveTo>
                  <a:lnTo>
                    <a:pt x="4088885" y="0"/>
                  </a:lnTo>
                  <a:lnTo>
                    <a:pt x="4088885" y="879966"/>
                  </a:lnTo>
                  <a:lnTo>
                    <a:pt x="0" y="879966"/>
                  </a:lnTo>
                  <a:close/>
                </a:path>
              </a:pathLst>
            </a:custGeom>
            <a:solidFill>
              <a:srgbClr val="E0D5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88884" cy="889491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4253" y="6292232"/>
            <a:ext cx="1690855" cy="169085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D5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5132" y="6486603"/>
            <a:ext cx="1309097" cy="1309097"/>
            <a:chOff x="0" y="0"/>
            <a:chExt cx="1745463" cy="174546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641501" y="7874193"/>
            <a:ext cx="13694332" cy="85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“What if we had dissolvable wrappers? Or a system where shops reward you for bringing your own containers?”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9340" y="4340705"/>
            <a:ext cx="10738654" cy="1366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Seek imaginative ideas and unconventional solutions</a:t>
            </a:r>
          </a:p>
          <a:p>
            <a:pPr marL="457200" indent="-457200">
              <a:lnSpc>
                <a:spcPts val="36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Brainstorm for ideas, use mind-maps, visualization, or other techniques.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44146" y="975402"/>
            <a:ext cx="7160270" cy="8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Creative Thinking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55398044-78B1-B5B0-02FD-07E1A432F558}"/>
              </a:ext>
            </a:extLst>
          </p:cNvPr>
          <p:cNvSpPr txBox="1"/>
          <p:nvPr/>
        </p:nvSpPr>
        <p:spPr>
          <a:xfrm>
            <a:off x="1805468" y="2276327"/>
            <a:ext cx="3223732" cy="80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5</a:t>
            </a:r>
          </a:p>
        </p:txBody>
      </p:sp>
      <p:grpSp>
        <p:nvGrpSpPr>
          <p:cNvPr id="25" name="Group 14">
            <a:extLst>
              <a:ext uri="{FF2B5EF4-FFF2-40B4-BE49-F238E27FC236}">
                <a16:creationId xmlns:a16="http://schemas.microsoft.com/office/drawing/2014/main" id="{CE89D426-ACC6-1D11-1C78-07DBD195BE72}"/>
              </a:ext>
            </a:extLst>
          </p:cNvPr>
          <p:cNvGrpSpPr/>
          <p:nvPr/>
        </p:nvGrpSpPr>
        <p:grpSpPr>
          <a:xfrm>
            <a:off x="5746704" y="2534683"/>
            <a:ext cx="7281320" cy="782416"/>
            <a:chOff x="0" y="0"/>
            <a:chExt cx="4088884" cy="879966"/>
          </a:xfrm>
        </p:grpSpPr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579E98A3-FE28-424A-6020-C670847E5B26}"/>
                </a:ext>
              </a:extLst>
            </p:cNvPr>
            <p:cNvSpPr/>
            <p:nvPr/>
          </p:nvSpPr>
          <p:spPr>
            <a:xfrm>
              <a:off x="0" y="0"/>
              <a:ext cx="4088885" cy="879966"/>
            </a:xfrm>
            <a:custGeom>
              <a:avLst/>
              <a:gdLst/>
              <a:ahLst/>
              <a:cxnLst/>
              <a:rect l="l" t="t" r="r" b="b"/>
              <a:pathLst>
                <a:path w="4088885" h="879966">
                  <a:moveTo>
                    <a:pt x="0" y="0"/>
                  </a:moveTo>
                  <a:lnTo>
                    <a:pt x="4088885" y="0"/>
                  </a:lnTo>
                  <a:lnTo>
                    <a:pt x="4088885" y="879966"/>
                  </a:lnTo>
                  <a:lnTo>
                    <a:pt x="0" y="879966"/>
                  </a:lnTo>
                  <a:close/>
                </a:path>
              </a:pathLst>
            </a:custGeom>
            <a:solidFill>
              <a:srgbClr val="E0D5E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54A1DE82-5E23-ABEA-3848-75221E30D47E}"/>
                </a:ext>
              </a:extLst>
            </p:cNvPr>
            <p:cNvSpPr txBox="1"/>
            <p:nvPr/>
          </p:nvSpPr>
          <p:spPr>
            <a:xfrm>
              <a:off x="0" y="-9525"/>
              <a:ext cx="4088884" cy="889491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880622" y="2670814"/>
            <a:ext cx="11729812" cy="458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Innovate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boldly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F0F8F2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08567" y="824667"/>
            <a:ext cx="15085566" cy="1422110"/>
            <a:chOff x="0" y="0"/>
            <a:chExt cx="4088884" cy="385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solidFill>
              <a:srgbClr val="75BF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5BF8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5741" y="917236"/>
            <a:ext cx="2576650" cy="257665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8567" y="7083591"/>
            <a:ext cx="15085566" cy="2374162"/>
            <a:chOff x="0" y="0"/>
            <a:chExt cx="4088884" cy="6435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C3EAC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62922" y="7671340"/>
            <a:ext cx="13115278" cy="1295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“The main sources of plastic are shopping bags, bottles, and food packaging. Bags are easiest to replace, bottles need refill stations, and packaging requires policy changes.”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9339" y="6711040"/>
            <a:ext cx="1690855" cy="169085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EAC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0218" y="6905411"/>
            <a:ext cx="1309097" cy="1309097"/>
            <a:chOff x="0" y="0"/>
            <a:chExt cx="1745463" cy="174546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111767" y="4313209"/>
            <a:ext cx="11531003" cy="90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Break complex problems into parts and solve them</a:t>
            </a:r>
          </a:p>
          <a:p>
            <a:pPr marL="457200" indent="-457200" algn="l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Use diagrams, process maps, and logically solve problems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11767" y="1005863"/>
            <a:ext cx="9909033" cy="880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Analytical Thinking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40D0201E-DBD3-27F6-D315-955C4F2CD6B6}"/>
              </a:ext>
            </a:extLst>
          </p:cNvPr>
          <p:cNvSpPr txBox="1"/>
          <p:nvPr/>
        </p:nvSpPr>
        <p:spPr>
          <a:xfrm>
            <a:off x="1805468" y="2247900"/>
            <a:ext cx="3223732" cy="80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6</a:t>
            </a:r>
          </a:p>
        </p:txBody>
      </p:sp>
      <p:grpSp>
        <p:nvGrpSpPr>
          <p:cNvPr id="26" name="Group 14">
            <a:extLst>
              <a:ext uri="{FF2B5EF4-FFF2-40B4-BE49-F238E27FC236}">
                <a16:creationId xmlns:a16="http://schemas.microsoft.com/office/drawing/2014/main" id="{EF095656-B512-3312-E020-12F66A290A5C}"/>
              </a:ext>
            </a:extLst>
          </p:cNvPr>
          <p:cNvGrpSpPr/>
          <p:nvPr/>
        </p:nvGrpSpPr>
        <p:grpSpPr>
          <a:xfrm>
            <a:off x="5690323" y="2680760"/>
            <a:ext cx="6843234" cy="1064054"/>
            <a:chOff x="0" y="0"/>
            <a:chExt cx="4088884" cy="643507"/>
          </a:xfrm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307EE57D-3BCE-1B6B-B2C6-2C400C3D042F}"/>
                </a:ext>
              </a:extLst>
            </p:cNvPr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solidFill>
              <a:srgbClr val="D7F1D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B82ABC5C-72CB-45CE-576A-0C2C7A71217B}"/>
                </a:ext>
              </a:extLst>
            </p:cNvPr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696200" y="2885928"/>
            <a:ext cx="11531004" cy="461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Break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it</a:t>
            </a: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down</a:t>
            </a:r>
            <a:endParaRPr lang="en-US" sz="2800" b="1" dirty="0">
              <a:solidFill>
                <a:srgbClr val="000000"/>
              </a:solidFill>
              <a:highlight>
                <a:srgbClr val="FFFF00"/>
              </a:highlight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BD1A3-0E17-0DEA-A1CD-115F834C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E781D2-11F9-C06A-DC90-05596AF30B34}"/>
              </a:ext>
            </a:extLst>
          </p:cNvPr>
          <p:cNvGrpSpPr/>
          <p:nvPr/>
        </p:nvGrpSpPr>
        <p:grpSpPr>
          <a:xfrm>
            <a:off x="175664" y="238650"/>
            <a:ext cx="17872557" cy="9871542"/>
            <a:chOff x="0" y="0"/>
            <a:chExt cx="4707176" cy="2599912"/>
          </a:xfrm>
          <a:solidFill>
            <a:srgbClr val="F0F8F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279CF0-010D-7758-C105-7CC4DDE67105}"/>
                </a:ext>
              </a:extLst>
            </p:cNvPr>
            <p:cNvSpPr/>
            <p:nvPr/>
          </p:nvSpPr>
          <p:spPr>
            <a:xfrm>
              <a:off x="0" y="0"/>
              <a:ext cx="4707175" cy="2599912"/>
            </a:xfrm>
            <a:custGeom>
              <a:avLst/>
              <a:gdLst/>
              <a:ahLst/>
              <a:cxnLst/>
              <a:rect l="l" t="t" r="r" b="b"/>
              <a:pathLst>
                <a:path w="4707175" h="2599912">
                  <a:moveTo>
                    <a:pt x="22092" y="0"/>
                  </a:moveTo>
                  <a:lnTo>
                    <a:pt x="4685084" y="0"/>
                  </a:lnTo>
                  <a:cubicBezTo>
                    <a:pt x="4697285" y="0"/>
                    <a:pt x="4707175" y="9891"/>
                    <a:pt x="4707175" y="22092"/>
                  </a:cubicBezTo>
                  <a:lnTo>
                    <a:pt x="4707175" y="2577820"/>
                  </a:lnTo>
                  <a:cubicBezTo>
                    <a:pt x="4707175" y="2583680"/>
                    <a:pt x="4704848" y="2589299"/>
                    <a:pt x="4700705" y="2593442"/>
                  </a:cubicBezTo>
                  <a:cubicBezTo>
                    <a:pt x="4696562" y="2597585"/>
                    <a:pt x="4690943" y="2599912"/>
                    <a:pt x="4685084" y="2599912"/>
                  </a:cubicBezTo>
                  <a:lnTo>
                    <a:pt x="22092" y="2599912"/>
                  </a:lnTo>
                  <a:cubicBezTo>
                    <a:pt x="16233" y="2599912"/>
                    <a:pt x="10614" y="2597585"/>
                    <a:pt x="6471" y="2593442"/>
                  </a:cubicBezTo>
                  <a:cubicBezTo>
                    <a:pt x="2328" y="2589299"/>
                    <a:pt x="0" y="2583680"/>
                    <a:pt x="0" y="2577820"/>
                  </a:cubicBezTo>
                  <a:lnTo>
                    <a:pt x="0" y="22092"/>
                  </a:lnTo>
                  <a:cubicBezTo>
                    <a:pt x="0" y="16233"/>
                    <a:pt x="2328" y="10614"/>
                    <a:pt x="6471" y="6471"/>
                  </a:cubicBezTo>
                  <a:cubicBezTo>
                    <a:pt x="10614" y="2328"/>
                    <a:pt x="16233" y="0"/>
                    <a:pt x="22092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596E482-E318-8415-1756-994EBE684D9E}"/>
                </a:ext>
              </a:extLst>
            </p:cNvPr>
            <p:cNvSpPr txBox="1"/>
            <p:nvPr/>
          </p:nvSpPr>
          <p:spPr>
            <a:xfrm>
              <a:off x="0" y="-114300"/>
              <a:ext cx="4707176" cy="271421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 dirty="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92E35FC-37EA-B5C2-1E0E-6017E4ED096B}"/>
              </a:ext>
            </a:extLst>
          </p:cNvPr>
          <p:cNvGrpSpPr/>
          <p:nvPr/>
        </p:nvGrpSpPr>
        <p:grpSpPr>
          <a:xfrm>
            <a:off x="1708567" y="824667"/>
            <a:ext cx="15085566" cy="1422110"/>
            <a:chOff x="0" y="0"/>
            <a:chExt cx="4088884" cy="385457"/>
          </a:xfrm>
          <a:solidFill>
            <a:schemeClr val="accent6">
              <a:lumMod val="50000"/>
            </a:schemeClr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9C2066A-E229-592F-5EE7-AA2187B9EC4E}"/>
                </a:ext>
              </a:extLst>
            </p:cNvPr>
            <p:cNvSpPr/>
            <p:nvPr/>
          </p:nvSpPr>
          <p:spPr>
            <a:xfrm>
              <a:off x="0" y="0"/>
              <a:ext cx="4088885" cy="385457"/>
            </a:xfrm>
            <a:custGeom>
              <a:avLst/>
              <a:gdLst/>
              <a:ahLst/>
              <a:cxnLst/>
              <a:rect l="l" t="t" r="r" b="b"/>
              <a:pathLst>
                <a:path w="4088885" h="385457">
                  <a:moveTo>
                    <a:pt x="0" y="0"/>
                  </a:moveTo>
                  <a:lnTo>
                    <a:pt x="4088885" y="0"/>
                  </a:lnTo>
                  <a:lnTo>
                    <a:pt x="4088885" y="385457"/>
                  </a:lnTo>
                  <a:lnTo>
                    <a:pt x="0" y="38545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DDE0B6E-51C8-49AC-12C8-107ED40519E0}"/>
                </a:ext>
              </a:extLst>
            </p:cNvPr>
            <p:cNvSpPr txBox="1"/>
            <p:nvPr/>
          </p:nvSpPr>
          <p:spPr>
            <a:xfrm>
              <a:off x="0" y="-9525"/>
              <a:ext cx="4088884" cy="394982"/>
            </a:xfrm>
            <a:prstGeom prst="rect">
              <a:avLst/>
            </a:prstGeom>
            <a:grpFill/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0AA997-A712-86BE-3EE8-C1BC360F663F}"/>
              </a:ext>
            </a:extLst>
          </p:cNvPr>
          <p:cNvGrpSpPr/>
          <p:nvPr/>
        </p:nvGrpSpPr>
        <p:grpSpPr>
          <a:xfrm>
            <a:off x="778204" y="679699"/>
            <a:ext cx="3051724" cy="3051724"/>
            <a:chOff x="0" y="0"/>
            <a:chExt cx="812800" cy="812800"/>
          </a:xfrm>
          <a:solidFill>
            <a:schemeClr val="accent6">
              <a:lumMod val="50000"/>
            </a:schemeClr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65031AF-699E-DC76-36C3-1D0E57C772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7CE178F-D1C0-5156-B818-8250AFD4BEB8}"/>
                </a:ext>
              </a:extLst>
            </p:cNvPr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22F977B-8248-C569-429C-76F5D2F48E4B}"/>
              </a:ext>
            </a:extLst>
          </p:cNvPr>
          <p:cNvGrpSpPr/>
          <p:nvPr/>
        </p:nvGrpSpPr>
        <p:grpSpPr>
          <a:xfrm>
            <a:off x="1015741" y="917236"/>
            <a:ext cx="2576650" cy="257665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BDCD23F-AB26-E9ED-8B2C-09645D069B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40F870D-D04A-61CA-E23B-DD0BBD7C341B}"/>
                </a:ext>
              </a:extLst>
            </p:cNvPr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19AC0B35-2BEE-0C32-AA3D-AEE3405D15E4}"/>
              </a:ext>
            </a:extLst>
          </p:cNvPr>
          <p:cNvGrpSpPr/>
          <p:nvPr/>
        </p:nvGrpSpPr>
        <p:grpSpPr>
          <a:xfrm>
            <a:off x="1708567" y="7083591"/>
            <a:ext cx="15085566" cy="2374162"/>
            <a:chOff x="0" y="0"/>
            <a:chExt cx="4088884" cy="643507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D106064-2ADC-1380-6BC9-259AD79AD9BF}"/>
                </a:ext>
              </a:extLst>
            </p:cNvPr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565DAD9-454C-6BD6-1E97-D6CBD4D7DDCA}"/>
                </a:ext>
              </a:extLst>
            </p:cNvPr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  <a:grpFill/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BDEA59FF-8B00-F031-0AEA-307B1C5D309C}"/>
              </a:ext>
            </a:extLst>
          </p:cNvPr>
          <p:cNvSpPr txBox="1"/>
          <p:nvPr/>
        </p:nvSpPr>
        <p:spPr>
          <a:xfrm>
            <a:off x="2962922" y="7671340"/>
            <a:ext cx="13115278" cy="859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2800" i="1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“Instead of targeting consumers, target producers: require companies to buy back their plastic waste or redesign packaging entirely.”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710790B-91D1-30AD-3952-456D4E70C284}"/>
              </a:ext>
            </a:extLst>
          </p:cNvPr>
          <p:cNvGrpSpPr/>
          <p:nvPr/>
        </p:nvGrpSpPr>
        <p:grpSpPr>
          <a:xfrm>
            <a:off x="1149339" y="6711040"/>
            <a:ext cx="1690855" cy="1690855"/>
            <a:chOff x="0" y="0"/>
            <a:chExt cx="812800" cy="81280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9C961F5-B708-2C4D-5563-77032F56DD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23C909E-1AA7-843D-F246-E7FFF1EBDF8C}"/>
                </a:ext>
              </a:extLst>
            </p:cNvPr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1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880AEA5-E602-7A78-3431-B035244BE521}"/>
              </a:ext>
            </a:extLst>
          </p:cNvPr>
          <p:cNvGrpSpPr/>
          <p:nvPr/>
        </p:nvGrpSpPr>
        <p:grpSpPr>
          <a:xfrm>
            <a:off x="1340218" y="6905411"/>
            <a:ext cx="1309097" cy="1309097"/>
            <a:chOff x="0" y="0"/>
            <a:chExt cx="1745463" cy="1745463"/>
          </a:xfrm>
        </p:grpSpPr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9A0684D9-13B0-CA7D-2747-2D69738F2FBF}"/>
                </a:ext>
              </a:extLst>
            </p:cNvPr>
            <p:cNvGrpSpPr/>
            <p:nvPr/>
          </p:nvGrpSpPr>
          <p:grpSpPr>
            <a:xfrm>
              <a:off x="0" y="0"/>
              <a:ext cx="1745463" cy="1745463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A6BE06ED-6C21-4A51-A15A-3AC35444E77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2A2D5FD7-5D3C-0F32-0783-A18C577F9CA3}"/>
                  </a:ext>
                </a:extLst>
              </p:cNvPr>
              <p:cNvSpPr txBox="1"/>
              <p:nvPr/>
            </p:nvSpPr>
            <p:spPr>
              <a:xfrm>
                <a:off x="76200" y="-38100"/>
                <a:ext cx="6604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81"/>
                  </a:lnSpc>
                </a:pPr>
                <a:endParaRPr/>
              </a:p>
            </p:txBody>
          </p:sp>
        </p:grp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C7FC389-0CDE-D16A-572A-C55282791533}"/>
                </a:ext>
              </a:extLst>
            </p:cNvPr>
            <p:cNvSpPr/>
            <p:nvPr/>
          </p:nvSpPr>
          <p:spPr>
            <a:xfrm>
              <a:off x="197195" y="0"/>
              <a:ext cx="1351072" cy="1546291"/>
            </a:xfrm>
            <a:custGeom>
              <a:avLst/>
              <a:gdLst/>
              <a:ahLst/>
              <a:cxnLst/>
              <a:rect l="l" t="t" r="r" b="b"/>
              <a:pathLst>
                <a:path w="1351072" h="1546291">
                  <a:moveTo>
                    <a:pt x="0" y="0"/>
                  </a:moveTo>
                  <a:lnTo>
                    <a:pt x="1351073" y="0"/>
                  </a:lnTo>
                  <a:lnTo>
                    <a:pt x="1351073" y="1546291"/>
                  </a:lnTo>
                  <a:lnTo>
                    <a:pt x="0" y="1546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id="{32AC17EC-E871-847B-750D-37F89BEF6DB1}"/>
              </a:ext>
            </a:extLst>
          </p:cNvPr>
          <p:cNvSpPr txBox="1"/>
          <p:nvPr/>
        </p:nvSpPr>
        <p:spPr>
          <a:xfrm>
            <a:off x="4111767" y="4313209"/>
            <a:ext cx="11531003" cy="90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Look at the problem from unexpected/unique angles</a:t>
            </a:r>
          </a:p>
          <a:p>
            <a:pPr marL="457200" indent="-457200" algn="l">
              <a:lnSpc>
                <a:spcPts val="364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0073EBF-45D3-8D07-5327-7DCA4E4CB0CF}"/>
              </a:ext>
            </a:extLst>
          </p:cNvPr>
          <p:cNvSpPr txBox="1"/>
          <p:nvPr/>
        </p:nvSpPr>
        <p:spPr>
          <a:xfrm>
            <a:off x="4111767" y="1005863"/>
            <a:ext cx="9909033" cy="880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58"/>
              </a:lnSpc>
            </a:pPr>
            <a:r>
              <a:rPr lang="en-US" sz="5184" b="1" dirty="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Lateral Thinking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46CA285D-49D5-B17F-7A46-69E863DDD625}"/>
              </a:ext>
            </a:extLst>
          </p:cNvPr>
          <p:cNvSpPr txBox="1"/>
          <p:nvPr/>
        </p:nvSpPr>
        <p:spPr>
          <a:xfrm>
            <a:off x="1805468" y="2247900"/>
            <a:ext cx="3223732" cy="80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sz="115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7</a:t>
            </a:r>
          </a:p>
        </p:txBody>
      </p:sp>
      <p:grpSp>
        <p:nvGrpSpPr>
          <p:cNvPr id="26" name="Group 14">
            <a:extLst>
              <a:ext uri="{FF2B5EF4-FFF2-40B4-BE49-F238E27FC236}">
                <a16:creationId xmlns:a16="http://schemas.microsoft.com/office/drawing/2014/main" id="{3BE909AA-C26A-9D34-9838-593E75349454}"/>
              </a:ext>
            </a:extLst>
          </p:cNvPr>
          <p:cNvGrpSpPr/>
          <p:nvPr/>
        </p:nvGrpSpPr>
        <p:grpSpPr>
          <a:xfrm>
            <a:off x="5690323" y="2680760"/>
            <a:ext cx="6843234" cy="1064054"/>
            <a:chOff x="0" y="0"/>
            <a:chExt cx="4088884" cy="643507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1C607D7A-E860-1056-E2C7-BD03253B66A1}"/>
                </a:ext>
              </a:extLst>
            </p:cNvPr>
            <p:cNvSpPr/>
            <p:nvPr/>
          </p:nvSpPr>
          <p:spPr>
            <a:xfrm>
              <a:off x="0" y="0"/>
              <a:ext cx="4088885" cy="643507"/>
            </a:xfrm>
            <a:custGeom>
              <a:avLst/>
              <a:gdLst/>
              <a:ahLst/>
              <a:cxnLst/>
              <a:rect l="l" t="t" r="r" b="b"/>
              <a:pathLst>
                <a:path w="4088885" h="643507">
                  <a:moveTo>
                    <a:pt x="0" y="0"/>
                  </a:moveTo>
                  <a:lnTo>
                    <a:pt x="4088885" y="0"/>
                  </a:lnTo>
                  <a:lnTo>
                    <a:pt x="4088885" y="643507"/>
                  </a:lnTo>
                  <a:lnTo>
                    <a:pt x="0" y="64350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66D15756-E035-B1D1-C89E-117965873AE9}"/>
                </a:ext>
              </a:extLst>
            </p:cNvPr>
            <p:cNvSpPr txBox="1"/>
            <p:nvPr/>
          </p:nvSpPr>
          <p:spPr>
            <a:xfrm>
              <a:off x="0" y="-9525"/>
              <a:ext cx="4088884" cy="653032"/>
            </a:xfrm>
            <a:prstGeom prst="rect">
              <a:avLst/>
            </a:prstGeom>
            <a:grpFill/>
          </p:spPr>
          <p:txBody>
            <a:bodyPr lIns="27432" tIns="27432" rIns="27432" bIns="27432" rtlCol="0" anchor="t"/>
            <a:lstStyle/>
            <a:p>
              <a:pPr algn="ctr">
                <a:lnSpc>
                  <a:spcPts val="1191"/>
                </a:lnSpc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552114BE-09F5-0185-0998-3479ED0D37FC}"/>
              </a:ext>
            </a:extLst>
          </p:cNvPr>
          <p:cNvSpPr txBox="1"/>
          <p:nvPr/>
        </p:nvSpPr>
        <p:spPr>
          <a:xfrm>
            <a:off x="7087096" y="2935843"/>
            <a:ext cx="11531004" cy="461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Find an </a:t>
            </a:r>
            <a:r>
              <a:rPr lang="en-US" sz="2800" b="1" i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unusual</a:t>
            </a:r>
            <a:r>
              <a:rPr lang="en-US" sz="28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angle</a:t>
            </a:r>
            <a:endParaRPr lang="en-US" sz="2800" b="1" dirty="0">
              <a:solidFill>
                <a:srgbClr val="000000"/>
              </a:solidFill>
              <a:highlight>
                <a:srgbClr val="FFFF00"/>
              </a:highlight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  <p:extLst>
      <p:ext uri="{BB962C8B-B14F-4D97-AF65-F5344CB8AC3E}">
        <p14:creationId xmlns:p14="http://schemas.microsoft.com/office/powerpoint/2010/main" val="196572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0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3C0D2-7F78-ECC7-6211-EAB5ADE0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B6704538-5231-1671-DBB1-825FD6CB9C3C}"/>
              </a:ext>
            </a:extLst>
          </p:cNvPr>
          <p:cNvSpPr txBox="1"/>
          <p:nvPr/>
        </p:nvSpPr>
        <p:spPr>
          <a:xfrm>
            <a:off x="2209800" y="2552700"/>
            <a:ext cx="13030200" cy="4459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Abstract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Divergent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Convergent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Critical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Creative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Analytical </a:t>
            </a:r>
          </a:p>
          <a:p>
            <a:pPr marL="457200" indent="-4572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Lateral</a:t>
            </a:r>
          </a:p>
        </p:txBody>
      </p:sp>
    </p:spTree>
    <p:extLst>
      <p:ext uri="{BB962C8B-B14F-4D97-AF65-F5344CB8AC3E}">
        <p14:creationId xmlns:p14="http://schemas.microsoft.com/office/powerpoint/2010/main" val="420384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365</Words>
  <Application>Microsoft Office PowerPoint</Application>
  <PresentationFormat>Custom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Agrandir</vt:lpstr>
      <vt:lpstr>Agrandir Bold</vt:lpstr>
      <vt:lpstr>Calibri</vt:lpstr>
      <vt:lpstr>Arial</vt:lpstr>
      <vt:lpstr>Agrandir Narrow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Zirva Shabbir</cp:lastModifiedBy>
  <cp:revision>8</cp:revision>
  <dcterms:created xsi:type="dcterms:W3CDTF">2006-08-16T00:00:00Z</dcterms:created>
  <dcterms:modified xsi:type="dcterms:W3CDTF">2025-08-24T16:08:02Z</dcterms:modified>
  <dc:identifier>DAGgyE0C9XQ</dc:identifier>
</cp:coreProperties>
</file>